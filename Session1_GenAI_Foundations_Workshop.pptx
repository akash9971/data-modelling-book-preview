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80" r:id="rId7"/>
    <p:sldId id="281" r:id="rId8"/>
    <p:sldId id="282" r:id="rId9"/>
    <p:sldId id="284" r:id="rId10"/>
    <p:sldId id="283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45"/>
    <p:sldId id="295" r:id="rId46"/>
    <p:sldId id="296" r:id="rId47"/>
    <p:sldId id="297" r:id="rId48"/>
    <p:sldId id="298" r:id="rId49"/>
    <p:sldId id="261" r:id="rId21"/>
    <p:sldId id="262" r:id="rId22"/>
    <p:sldId id="264" r:id="rId23"/>
    <p:sldId id="263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091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269E1-4318-2418-075B-5BE1B77F5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406D1-9E65-2937-40EE-4953A856A1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0C8E11-CD28-27A2-285D-03F7C784E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ECF5A-9429-BE0C-6156-97187DA8AC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4390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FF1C4-6E7C-485F-4BE0-12DB03B22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663A3D-86A3-3CEF-C254-742547B44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B6E9F2-F0E6-E4C1-3683-ABAD4E1C97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2E7AA-1EDA-243E-8BC9-A47346CBCE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27166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FF29F-489E-D7B1-790F-A1A328321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DC0A0F-83C3-56B5-3A1B-80F967850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5AA1A7-4AC5-A0C8-0979-9DC5375044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8D376-3D6B-D268-F223-C40D71C593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08603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AF377-4B0C-F272-8003-0CB23133D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90D282-5570-B7A0-224C-A4F01D0EA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B32446-AE5B-6A85-1660-4A8224098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F0A53-77BF-7E1D-9ACE-7428B75BC2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55316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EF9AF-6938-807D-46D6-8087E7E6A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9A6257-7F67-E0F1-6CEE-D66AD22BAB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68D9C2-D561-E499-A451-805DDB631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B2D00-2952-B3C0-6C4F-9D1DB6BE6E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7661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65D2F-DFE5-8D81-E116-C209C3173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72C93B-6D2F-B5B7-8603-0A2CCE8E4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4219EF-32FA-7B78-A15F-021F90CAB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EE051-EB43-547E-14DD-DBBC38313C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45954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02C19-6EC7-11FB-E305-89C31D706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E5DB2C-62E9-BA95-0DC6-30B4C0F98C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3C68AA-E0DC-981C-B218-47FBD0562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9B36B-5A53-12FC-F88E-1C01B28A9A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00563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EF40C-6AB3-5B54-4C1E-A0C25033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27C200-8F6E-317F-1B84-2D6BF33B6B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5FE403-A1C6-5D7B-7041-2FB152613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C71CF-9361-C21A-EEBD-21F3770569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70959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?>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?>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?>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?>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?>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?>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?>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?>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?>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10972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Decor Circle Outer"/>
          <p:cNvSpPr/>
          <p:nvPr/>
        </p:nvSpPr>
        <p:spPr>
          <a:xfrm>
            <a:off x="5943600" y="1097280"/>
            <a:ext cx="2743200" cy="2743200"/>
          </a:xfrm>
          <a:prstGeom prst="ellipse">
            <a:avLst/>
          </a:prstGeom>
          <a:noFill/>
          <a:ln w="19050">
            <a:solidFill>
              <a:srgbClr val="14A8A8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Decor Circle Inner"/>
          <p:cNvSpPr/>
          <p:nvPr/>
        </p:nvSpPr>
        <p:spPr>
          <a:xfrm>
            <a:off x="6263640" y="1417320"/>
            <a:ext cx="2103120" cy="2103120"/>
          </a:xfrm>
          <a:prstGeom prst="ellipse">
            <a:avLst/>
          </a:prstGeom>
          <a:solidFill>
            <a:srgbClr val="0D7377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Big Number"/>
          <p:cNvSpPr/>
          <p:nvPr/>
        </p:nvSpPr>
        <p:spPr>
          <a:xfrm>
            <a:off x="5943600" y="10972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600" dirty="0"/>
          </a:p>
          <a:p>
            <a:pPr marL="0" indent="0" algn="ctr">
              <a:buNone/>
            </a:pPr>
            <a:r>
              <a:rPr lang="en-US" sz="1200" b="1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600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Foundations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Prompt Engineering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2286000" cy="45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2 Hours  ·  Includes Hands-On Exercises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 Sharma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 @ Microsoft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4773168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Foundations (40 min)  ·  PART 2: Prompting Techniques (40 min)  ·  PART 3: Exercises &amp; Wrap-up (40 min)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Agenda — 2 Hours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91440" cy="71323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8321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Icebreaker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86868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Introductions, goals, and quick poll: 'How do you use AI today?'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18488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618488"/>
            <a:ext cx="91440" cy="71323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673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 – 0:40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8928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Gen AI Foundations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170992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AI / Gen AI? LLMs explained simply. How they learn. OpenAI API, Hugging Face &amp; Ollama hands-on.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459736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459736"/>
            <a:ext cx="91440" cy="713232"/>
          </a:xfrm>
          <a:prstGeom prst="rect">
            <a:avLst/>
          </a:prstGeom>
          <a:solidFill>
            <a:srgbClr val="14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0:40 – 1:20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7340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Prompt Engineering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2551176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framework, TCEPFT method, prompt types, live demos &amp; 3 exercises.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300984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300984"/>
            <a:ext cx="91440" cy="71323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355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 – 1:45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57530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Advanced Topics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66160" y="3392424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prompts, iterative refinement, debugging prompts, reusable templates.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142232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4142232"/>
            <a:ext cx="91440" cy="71323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41970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 – 2:00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4165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+ Homework Brief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66160" y="4233672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takeaways, Q&amp;A, and homework walkthrough.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51435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731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Foundations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AI? How do LLMs work? Key concepts explained.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651760"/>
            <a:ext cx="1371600" cy="3657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Generative AI?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406908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 Analogy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the world's most well-read person — someone who has read every book, article, chat message, and code file ever written.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imagine they can respond to ANY question, draft ANY document, and write ANY code — instantly, 24/7.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Generative AI. It doesn't look things up — it generates from what it learned.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777240"/>
            <a:ext cx="43891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480560" y="777240"/>
            <a:ext cx="73152" cy="1188720"/>
          </a:xfrm>
          <a:prstGeom prst="rect">
            <a:avLst/>
          </a:prstGeom>
          <a:solidFill>
            <a:srgbClr val="3A5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0" y="868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12344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&amp; predicts from structured data. Example: spam filters, recommendation engines.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2130552"/>
            <a:ext cx="43891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80560" y="2130552"/>
            <a:ext cx="73152" cy="118872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22219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58775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new content — text, images, code, audio — by learning patterns from massive datasets.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80560" y="3483864"/>
            <a:ext cx="43891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480560" y="3483864"/>
            <a:ext cx="73152" cy="1188720"/>
          </a:xfrm>
          <a:prstGeom prst="rect">
            <a:avLst/>
          </a:prstGeom>
          <a:solidFill>
            <a:srgbClr val="14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357530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394106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behind ChatGPT, Gemini, Claude. Trained on trillions of words. Output = next best word.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LLMs Actually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65960" cy="329184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121408"/>
            <a:ext cx="1234440" cy="36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broken into tokens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(~¾ of a word each). 'Hello world' → 2 tokens.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40280" y="1828800"/>
            <a:ext cx="210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450592" y="777240"/>
            <a:ext cx="1965960" cy="3291840"/>
          </a:xfrm>
          <a:prstGeom prst="rect">
            <a:avLst/>
          </a:prstGeom>
          <a:solidFill>
            <a:srgbClr val="0D7377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50592" y="8686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450592" y="16459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816352" y="2121408"/>
            <a:ext cx="1234440" cy="36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42032" y="228600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become vectors — numbers in high-dimensional space encoding meaning &amp; relationships.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16552" y="1828800"/>
            <a:ext cx="210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626864" y="777240"/>
            <a:ext cx="1965960" cy="3291840"/>
          </a:xfrm>
          <a:prstGeom prst="rect">
            <a:avLst/>
          </a:prstGeom>
          <a:solidFill>
            <a:srgbClr val="14A8A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26864" y="8686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626864" y="16459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992624" y="2121408"/>
            <a:ext cx="1234440" cy="36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18304" y="228600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 weighs relationships between tokens across the full context window.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92824" y="1828800"/>
            <a:ext cx="210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803136" y="777240"/>
            <a:ext cx="1965960" cy="3291840"/>
          </a:xfrm>
          <a:prstGeom prst="rect">
            <a:avLst/>
          </a:prstGeom>
          <a:solidFill>
            <a:srgbClr val="F5A623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03136" y="8686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803136" y="16459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168896" y="2121408"/>
            <a:ext cx="1234440" cy="36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94576" y="228600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 the next most-likely token, sampling from probability distribution.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251960"/>
            <a:ext cx="8595360" cy="640080"/>
          </a:xfrm>
          <a:prstGeom prst="rect">
            <a:avLst/>
          </a:prstGeom>
          <a:solidFill>
            <a:srgbClr val="E2ECF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43159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LLMs don't 'know' facts — they learned statistical patterns. This is why they can hallucinate. Always verify important outputs!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4F46E5">
              <a:alpha val="25000"/>
            </a:srgbClr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150" normalizeH="0" baseline="0" noProof="0">
                <a:ln>
                  <a:noFill/>
                </a:ln>
                <a:solidFill>
                  <a:srgbClr val="6366F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LESSON 01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Language Model?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120640" cy="141732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64008" cy="1417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6366F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one-sentence explanation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1536192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0EE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language model is a program that learns patterns from text so it can predict what word comes next — and from that simple trick, it can write, answer questions, and even hold a conversation.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5120640" cy="114300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272491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Here is a simple example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990088"/>
            <a:ext cx="4663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>
                <a:ln>
                  <a:noFill/>
                </a:ln>
                <a:solidFill>
                  <a:srgbClr val="F0EE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how your phone suggests the next word when you text. It guesses “you” after “thank” because it learned that pattern. A language model does the same thing — just way better, because it learned from a huge amount of text.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Picture 23" descr="Achieve Google-Like Autosuggestions with the WinUI AutoComplete Control ...">
            <a:extLst>
              <a:ext uri="{FF2B5EF4-FFF2-40B4-BE49-F238E27FC236}">
                <a16:creationId xmlns:a16="http://schemas.microsoft.com/office/drawing/2014/main" id="{726EE8CD-8A8C-22CE-F06F-C3EE3382E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575" y="1371600"/>
            <a:ext cx="3119545" cy="2227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93425D-B165-5E5E-11B7-6013FF429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9A625B-A2E1-5EB3-6BC7-AEA28997A5DD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C741869-63DF-AA57-9C1F-F2DF147FD161}"/>
              </a:ext>
            </a:extLst>
          </p:cNvPr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4F46E5">
              <a:alpha val="25000"/>
            </a:srgbClr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2EE5311-2C87-BF51-E609-477CC6229B74}"/>
              </a:ext>
            </a:extLst>
          </p:cNvPr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150" normalizeH="0" baseline="0" noProof="0">
                <a:ln>
                  <a:noFill/>
                </a:ln>
                <a:solidFill>
                  <a:srgbClr val="6366F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LESSON 01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496868D-BCA0-2DFE-8ACE-B7064C9CB1B9}"/>
              </a:ext>
            </a:extLst>
          </p:cNvPr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Large Language Model?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3478027-F250-BC63-72D2-49346F5B5D2C}"/>
              </a:ext>
            </a:extLst>
          </p:cNvPr>
          <p:cNvSpPr/>
          <p:nvPr/>
        </p:nvSpPr>
        <p:spPr>
          <a:xfrm>
            <a:off x="457200" y="1143000"/>
            <a:ext cx="5120640" cy="141732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41A7B19-35B4-3F3E-737A-602FC06A6D8C}"/>
              </a:ext>
            </a:extLst>
          </p:cNvPr>
          <p:cNvSpPr/>
          <p:nvPr/>
        </p:nvSpPr>
        <p:spPr>
          <a:xfrm>
            <a:off x="457200" y="1143000"/>
            <a:ext cx="64008" cy="1417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8A9F181-2CF6-1D42-7200-38AB482DC8BE}"/>
              </a:ext>
            </a:extLst>
          </p:cNvPr>
          <p:cNvSpPr/>
          <p:nvPr/>
        </p:nvSpPr>
        <p:spPr>
          <a:xfrm>
            <a:off x="640080" y="1234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6366F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one-sentence explanation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0C51FB1-8CD1-3FF6-4196-05C3A4C8A3E9}"/>
              </a:ext>
            </a:extLst>
          </p:cNvPr>
          <p:cNvSpPr/>
          <p:nvPr/>
        </p:nvSpPr>
        <p:spPr>
          <a:xfrm>
            <a:off x="640080" y="1536192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0EE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 LLM is a program that read billions of texts, learned patterns in language, and can now write, answer, summarize, translate, and reason.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348CBF2-E242-2902-81B1-77568C2DA5C1}"/>
              </a:ext>
            </a:extLst>
          </p:cNvPr>
          <p:cNvSpPr/>
          <p:nvPr/>
        </p:nvSpPr>
        <p:spPr>
          <a:xfrm>
            <a:off x="457200" y="2651760"/>
            <a:ext cx="5120640" cy="114300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8945581-3D74-344A-2BD4-F637258F147A}"/>
              </a:ext>
            </a:extLst>
          </p:cNvPr>
          <p:cNvSpPr/>
          <p:nvPr/>
        </p:nvSpPr>
        <p:spPr>
          <a:xfrm>
            <a:off x="457200" y="265176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87A3649-9781-5AFB-D8F6-5463B69A1179}"/>
              </a:ext>
            </a:extLst>
          </p:cNvPr>
          <p:cNvSpPr/>
          <p:nvPr/>
        </p:nvSpPr>
        <p:spPr>
          <a:xfrm>
            <a:off x="640080" y="272491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Here is a simple example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700898D-7E92-22FA-2F4C-2D2DB0A5703C}"/>
              </a:ext>
            </a:extLst>
          </p:cNvPr>
          <p:cNvSpPr/>
          <p:nvPr/>
        </p:nvSpPr>
        <p:spPr>
          <a:xfrm>
            <a:off x="640080" y="2990088"/>
            <a:ext cx="4663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>
                <a:ln>
                  <a:noFill/>
                </a:ln>
                <a:solidFill>
                  <a:srgbClr val="F0EE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Imagine reading every book, every website, every conversation ever written. You'd become incredibly good at predicting what comes next in any sentence. An LLM did exactly that — but it read WAY more than any human ever could.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4AA3A90-3EE1-B932-C4E0-DE6668DB4615}"/>
              </a:ext>
            </a:extLst>
          </p:cNvPr>
          <p:cNvSpPr/>
          <p:nvPr/>
        </p:nvSpPr>
        <p:spPr>
          <a:xfrm>
            <a:off x="5760720" y="1143000"/>
            <a:ext cx="2926080" cy="105156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CB0B04C-D3E1-FA06-EC3F-E1D4450D7D0F}"/>
              </a:ext>
            </a:extLst>
          </p:cNvPr>
          <p:cNvSpPr/>
          <p:nvPr/>
        </p:nvSpPr>
        <p:spPr>
          <a:xfrm>
            <a:off x="5760720" y="126187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570 GB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AA4ADE8-53EB-F94A-E47B-F80A37EE2D62}"/>
              </a:ext>
            </a:extLst>
          </p:cNvPr>
          <p:cNvSpPr/>
          <p:nvPr/>
        </p:nvSpPr>
        <p:spPr>
          <a:xfrm>
            <a:off x="5760720" y="17190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GPT-3 training data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918FF05-EE72-6B50-95A3-DBC7EF7FB33F}"/>
              </a:ext>
            </a:extLst>
          </p:cNvPr>
          <p:cNvSpPr/>
          <p:nvPr/>
        </p:nvSpPr>
        <p:spPr>
          <a:xfrm>
            <a:off x="5760720" y="2359152"/>
            <a:ext cx="2926080" cy="105156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A3CC0DF-48F3-5D7E-84B7-47A789AB691F}"/>
              </a:ext>
            </a:extLst>
          </p:cNvPr>
          <p:cNvSpPr/>
          <p:nvPr/>
        </p:nvSpPr>
        <p:spPr>
          <a:xfrm>
            <a:off x="5760720" y="247802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4F46E5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175B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25A5BE2-2DD1-86A8-7E3E-EEA69B5338CF}"/>
              </a:ext>
            </a:extLst>
          </p:cNvPr>
          <p:cNvSpPr/>
          <p:nvPr/>
        </p:nvSpPr>
        <p:spPr>
          <a:xfrm>
            <a:off x="5760720" y="29352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GPT-3 parameters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1310B79-549D-584E-1B29-135A6AB3DA01}"/>
              </a:ext>
            </a:extLst>
          </p:cNvPr>
          <p:cNvSpPr/>
          <p:nvPr/>
        </p:nvSpPr>
        <p:spPr>
          <a:xfrm>
            <a:off x="5760720" y="3575304"/>
            <a:ext cx="2926080" cy="105156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F925AEA-2453-CEA0-4F2F-39499879C76A}"/>
              </a:ext>
            </a:extLst>
          </p:cNvPr>
          <p:cNvSpPr/>
          <p:nvPr/>
        </p:nvSpPr>
        <p:spPr>
          <a:xfrm>
            <a:off x="5760720" y="369417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~30 days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D09533D-D7E5-30F5-8EFE-A918CD802418}"/>
              </a:ext>
            </a:extLst>
          </p:cNvPr>
          <p:cNvSpPr/>
          <p:nvPr/>
        </p:nvSpPr>
        <p:spPr>
          <a:xfrm>
            <a:off x="5760720" y="415137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Typical training time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0469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4F46E5">
              <a:alpha val="25000"/>
            </a:srgbClr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150" normalizeH="0" baseline="0" noProof="0">
                <a:ln>
                  <a:noFill/>
                </a:ln>
                <a:solidFill>
                  <a:srgbClr val="6366F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LESSON 01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an LLM Is — and Isn't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931920" cy="347472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 WHAT IT IS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3931920" cy="347472"/>
          </a:xfrm>
          <a:prstGeom prst="rect">
            <a:avLst/>
          </a:prstGeom>
          <a:solidFill>
            <a:srgbClr val="F25C54">
              <a:alpha val="20000"/>
            </a:srgbClr>
          </a:solidFill>
          <a:ln w="12700">
            <a:solidFill>
              <a:srgbClr val="F25C5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54880" y="1143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25C5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✗  WHAT IT IS NOT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3931920" cy="96012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1600200"/>
            <a:ext cx="54864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16824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pattern machine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193852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Learned statistical patterns across trillions of words of human language.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3931920" cy="96012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54864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27797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text generator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30358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Given any input, it predicts the most contextually appropriate continuation.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3931920" cy="96012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54864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" y="38770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knowledge store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" y="413308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Facts, code, languages, styles — all encoded in 100B+ parameters.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54880" y="1600200"/>
            <a:ext cx="3931920" cy="96012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54880" y="1600200"/>
            <a:ext cx="54864" cy="960120"/>
          </a:xfrm>
          <a:prstGeom prst="rect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937760" y="16824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search engine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937760" y="193852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look things up. It generates from memory.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754880" y="2697480"/>
            <a:ext cx="3931920" cy="96012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754880" y="2697480"/>
            <a:ext cx="54864" cy="960120"/>
          </a:xfrm>
          <a:prstGeom prst="rect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937760" y="27797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Sentient or conscious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937760" y="30358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feelings, no awareness. Just very sophisticated math.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54880" y="3794760"/>
            <a:ext cx="3931920" cy="96012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754880" y="3794760"/>
            <a:ext cx="54864" cy="960120"/>
          </a:xfrm>
          <a:prstGeom prst="rect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937760" y="38770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Always right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937760" y="413308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It can 'hallucinate' — confidently say things that are wrong.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FB52F3-0F5A-E127-85DE-CBE9E3ACA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3E8FF9B-C2A0-8615-3D40-D3BC871BBF6D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E4A1618-032A-F0BE-167D-B556EB2C557A}"/>
              </a:ext>
            </a:extLst>
          </p:cNvPr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4F46E5">
              <a:alpha val="25000"/>
            </a:srgbClr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38D21B5-CC3A-5A07-D8EC-01E79EFE54C8}"/>
              </a:ext>
            </a:extLst>
          </p:cNvPr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150" normalizeH="0" baseline="0" noProof="0">
                <a:ln>
                  <a:noFill/>
                </a:ln>
                <a:solidFill>
                  <a:srgbClr val="6366F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LESSON 01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4B912F2-3466-6E03-E2F2-B06E78633D4D}"/>
              </a:ext>
            </a:extLst>
          </p:cNvPr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Applications of LLMs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9FAB13A-A92D-C30A-87C5-3F2E27C6B91A}"/>
              </a:ext>
            </a:extLst>
          </p:cNvPr>
          <p:cNvSpPr/>
          <p:nvPr/>
        </p:nvSpPr>
        <p:spPr>
          <a:xfrm>
            <a:off x="553845" y="1198755"/>
            <a:ext cx="3931920" cy="96012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96AFDD0-26D6-AE1A-A997-5C541D44A053}"/>
              </a:ext>
            </a:extLst>
          </p:cNvPr>
          <p:cNvSpPr/>
          <p:nvPr/>
        </p:nvSpPr>
        <p:spPr>
          <a:xfrm>
            <a:off x="553845" y="1198755"/>
            <a:ext cx="54864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632D3AD-0616-6A1B-A711-3FA71F6918F9}"/>
              </a:ext>
            </a:extLst>
          </p:cNvPr>
          <p:cNvSpPr/>
          <p:nvPr/>
        </p:nvSpPr>
        <p:spPr>
          <a:xfrm>
            <a:off x="736725" y="1281051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Chatbots &amp; Assistants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99A9E69-5D24-1397-F55F-58FA25916EFF}"/>
              </a:ext>
            </a:extLst>
          </p:cNvPr>
          <p:cNvSpPr/>
          <p:nvPr/>
        </p:nvSpPr>
        <p:spPr>
          <a:xfrm>
            <a:off x="736724" y="1537083"/>
            <a:ext cx="366429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Tools like ChatGPT and Google Gemini are LLMs you can talk to. They help with homework, answer questions, brainstorm ideas, and even act as tutors for any subject you're studying.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BC6F9DE-D61E-68F6-C845-D6D17079703C}"/>
              </a:ext>
            </a:extLst>
          </p:cNvPr>
          <p:cNvSpPr/>
          <p:nvPr/>
        </p:nvSpPr>
        <p:spPr>
          <a:xfrm>
            <a:off x="608709" y="2291463"/>
            <a:ext cx="3877056" cy="96012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182A39F-0181-ADB6-A9D3-21A4B01BB913}"/>
              </a:ext>
            </a:extLst>
          </p:cNvPr>
          <p:cNvSpPr/>
          <p:nvPr/>
        </p:nvSpPr>
        <p:spPr>
          <a:xfrm>
            <a:off x="553845" y="2296035"/>
            <a:ext cx="54864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85677C5-7CCE-8508-20DB-6EFE0460619A}"/>
              </a:ext>
            </a:extLst>
          </p:cNvPr>
          <p:cNvSpPr/>
          <p:nvPr/>
        </p:nvSpPr>
        <p:spPr>
          <a:xfrm>
            <a:off x="736725" y="2378331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Creation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01CC223-8F44-9023-493B-3599C789280F}"/>
              </a:ext>
            </a:extLst>
          </p:cNvPr>
          <p:cNvSpPr/>
          <p:nvPr/>
        </p:nvSpPr>
        <p:spPr>
          <a:xfrm>
            <a:off x="736725" y="2634363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LLMs can write essays, emails, social media posts, and even code. They help you draft, edit, and polish your writing — like having a 24/7 writing buddy.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72A0CD4-3C95-DEF7-0E27-5BD403610C33}"/>
              </a:ext>
            </a:extLst>
          </p:cNvPr>
          <p:cNvSpPr/>
          <p:nvPr/>
        </p:nvSpPr>
        <p:spPr>
          <a:xfrm>
            <a:off x="553845" y="3393315"/>
            <a:ext cx="3931920" cy="134874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41BFD09-02A4-00A3-D4FE-F983C95A6E0C}"/>
              </a:ext>
            </a:extLst>
          </p:cNvPr>
          <p:cNvSpPr/>
          <p:nvPr/>
        </p:nvSpPr>
        <p:spPr>
          <a:xfrm>
            <a:off x="553845" y="3393315"/>
            <a:ext cx="54864" cy="13487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D821AC4-83E4-82F4-C6E8-C545AB27397B}"/>
              </a:ext>
            </a:extLst>
          </p:cNvPr>
          <p:cNvSpPr/>
          <p:nvPr/>
        </p:nvSpPr>
        <p:spPr>
          <a:xfrm>
            <a:off x="736725" y="3475611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Research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4DC5FBB-7DBF-1870-A796-E60EFDC40D54}"/>
              </a:ext>
            </a:extLst>
          </p:cNvPr>
          <p:cNvSpPr/>
          <p:nvPr/>
        </p:nvSpPr>
        <p:spPr>
          <a:xfrm>
            <a:off x="736725" y="3883373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LLMs power tools like Google Search summaries, translate 100+ languages instantly, and can summarize a 50-page research paper in seconds — perfect for late-night study sessions.</a:t>
            </a:r>
          </a:p>
        </p:txBody>
      </p:sp>
      <p:sp>
        <p:nvSpPr>
          <p:cNvPr id="6" name="Shape 8">
            <a:extLst>
              <a:ext uri="{FF2B5EF4-FFF2-40B4-BE49-F238E27FC236}">
                <a16:creationId xmlns:a16="http://schemas.microsoft.com/office/drawing/2014/main" id="{4594EE78-4FDC-3FA3-92C5-86383CB3E5DE}"/>
              </a:ext>
            </a:extLst>
          </p:cNvPr>
          <p:cNvSpPr/>
          <p:nvPr/>
        </p:nvSpPr>
        <p:spPr>
          <a:xfrm>
            <a:off x="4646320" y="1187607"/>
            <a:ext cx="3931920" cy="96012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9">
            <a:extLst>
              <a:ext uri="{FF2B5EF4-FFF2-40B4-BE49-F238E27FC236}">
                <a16:creationId xmlns:a16="http://schemas.microsoft.com/office/drawing/2014/main" id="{F43902B2-F842-32CA-76D1-6D06E4B78704}"/>
              </a:ext>
            </a:extLst>
          </p:cNvPr>
          <p:cNvSpPr/>
          <p:nvPr/>
        </p:nvSpPr>
        <p:spPr>
          <a:xfrm>
            <a:off x="4646320" y="1187607"/>
            <a:ext cx="54864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58D23173-7992-247F-D93B-343AD3126E46}"/>
              </a:ext>
            </a:extLst>
          </p:cNvPr>
          <p:cNvSpPr/>
          <p:nvPr/>
        </p:nvSpPr>
        <p:spPr>
          <a:xfrm>
            <a:off x="4829200" y="1269903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code generation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36E579F2-C1AB-F54D-508F-C3CEB5E7D3D3}"/>
              </a:ext>
            </a:extLst>
          </p:cNvPr>
          <p:cNvSpPr/>
          <p:nvPr/>
        </p:nvSpPr>
        <p:spPr>
          <a:xfrm>
            <a:off x="4829199" y="1525935"/>
            <a:ext cx="366429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LLM can be used to generate code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7A505D9B-2C53-F3A7-A0F0-2459427A3145}"/>
              </a:ext>
            </a:extLst>
          </p:cNvPr>
          <p:cNvSpPr/>
          <p:nvPr/>
        </p:nvSpPr>
        <p:spPr>
          <a:xfrm>
            <a:off x="4701184" y="2280315"/>
            <a:ext cx="3877056" cy="96012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8096CE02-4C93-7290-F5E6-FAB5E7C34DBF}"/>
              </a:ext>
            </a:extLst>
          </p:cNvPr>
          <p:cNvSpPr/>
          <p:nvPr/>
        </p:nvSpPr>
        <p:spPr>
          <a:xfrm>
            <a:off x="4646320" y="2284887"/>
            <a:ext cx="54864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1C491006-462D-F0B6-FFFE-23C8A8E3F845}"/>
              </a:ext>
            </a:extLst>
          </p:cNvPr>
          <p:cNvSpPr/>
          <p:nvPr/>
        </p:nvSpPr>
        <p:spPr>
          <a:xfrm>
            <a:off x="4829200" y="2367183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incident resolution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B118716E-567E-EBCB-579A-36DAE02B85E3}"/>
              </a:ext>
            </a:extLst>
          </p:cNvPr>
          <p:cNvSpPr/>
          <p:nvPr/>
        </p:nvSpPr>
        <p:spPr>
          <a:xfrm>
            <a:off x="4829200" y="2623215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using LLM can help in automated incident resolution.</a:t>
            </a:r>
          </a:p>
        </p:txBody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B28434D2-A459-3AF3-3397-EA9C26D09C20}"/>
              </a:ext>
            </a:extLst>
          </p:cNvPr>
          <p:cNvSpPr/>
          <p:nvPr/>
        </p:nvSpPr>
        <p:spPr>
          <a:xfrm>
            <a:off x="4646320" y="3382167"/>
            <a:ext cx="3931920" cy="134874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17">
            <a:extLst>
              <a:ext uri="{FF2B5EF4-FFF2-40B4-BE49-F238E27FC236}">
                <a16:creationId xmlns:a16="http://schemas.microsoft.com/office/drawing/2014/main" id="{C33B9362-4C1B-05A9-809B-EC3B265049A0}"/>
              </a:ext>
            </a:extLst>
          </p:cNvPr>
          <p:cNvSpPr/>
          <p:nvPr/>
        </p:nvSpPr>
        <p:spPr>
          <a:xfrm>
            <a:off x="4646320" y="3382167"/>
            <a:ext cx="54864" cy="13487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CBDBEC0C-E77C-A39C-D482-4DB47FBC84F6}"/>
              </a:ext>
            </a:extLst>
          </p:cNvPr>
          <p:cNvSpPr/>
          <p:nvPr/>
        </p:nvSpPr>
        <p:spPr>
          <a:xfrm>
            <a:off x="4829200" y="3464463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Video and voice 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0F84C02A-A6B0-44F3-7FED-DD56A00C1AED}"/>
              </a:ext>
            </a:extLst>
          </p:cNvPr>
          <p:cNvSpPr/>
          <p:nvPr/>
        </p:nvSpPr>
        <p:spPr>
          <a:xfrm>
            <a:off x="4829200" y="3872225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Generate production quality videos and voice overs with realistic human voice and pronunciation. </a:t>
            </a:r>
          </a:p>
        </p:txBody>
      </p:sp>
    </p:spTree>
    <p:extLst>
      <p:ext uri="{BB962C8B-B14F-4D97-AF65-F5344CB8AC3E}">
        <p14:creationId xmlns:p14="http://schemas.microsoft.com/office/powerpoint/2010/main" val="838172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57F99C-321A-5924-0076-AB001DE62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8D5F788-0E1E-88C6-A75A-50539FD05C89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409932E-CA29-4079-E2CA-E918EB5B5044}"/>
              </a:ext>
            </a:extLst>
          </p:cNvPr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4F46E5">
              <a:alpha val="25000"/>
            </a:srgbClr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1B2174F-A226-DAB3-0309-739E8F1202A3}"/>
              </a:ext>
            </a:extLst>
          </p:cNvPr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150" normalizeH="0" baseline="0" noProof="0">
                <a:ln>
                  <a:noFill/>
                </a:ln>
                <a:solidFill>
                  <a:srgbClr val="6366F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LESSON 01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ChatGPT and AI in software development (best practices)">
            <a:extLst>
              <a:ext uri="{FF2B5EF4-FFF2-40B4-BE49-F238E27FC236}">
                <a16:creationId xmlns:a16="http://schemas.microsoft.com/office/drawing/2014/main" id="{60E7C044-B32F-0253-8E18-A15F25397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546" y="660081"/>
            <a:ext cx="6866908" cy="381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322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2EC0FB-7F95-8E1B-410E-06B1C6100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1444FB9-4661-4B5B-9E94-19713B7F9C50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80C63E3-DEEF-A031-13A7-8BBEF2A335D0}"/>
              </a:ext>
            </a:extLst>
          </p:cNvPr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4F46E5">
              <a:alpha val="25000"/>
            </a:srgbClr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990AC61-1A4B-8FD3-BAD1-E4D30673CF99}"/>
              </a:ext>
            </a:extLst>
          </p:cNvPr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150" normalizeH="0" baseline="0" noProof="0">
                <a:ln>
                  <a:noFill/>
                </a:ln>
                <a:solidFill>
                  <a:srgbClr val="6366F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LESSON 01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563EFBE-2A33-DC31-076A-22C3805BE413}"/>
              </a:ext>
            </a:extLst>
          </p:cNvPr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 they Work?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80A60BA-AB1D-261C-101E-A37441ED05EA}"/>
              </a:ext>
            </a:extLst>
          </p:cNvPr>
          <p:cNvSpPr/>
          <p:nvPr/>
        </p:nvSpPr>
        <p:spPr>
          <a:xfrm>
            <a:off x="1839947" y="1198755"/>
            <a:ext cx="3931920" cy="96012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C3A69AA-A733-5644-9EA6-1F5068243519}"/>
              </a:ext>
            </a:extLst>
          </p:cNvPr>
          <p:cNvSpPr/>
          <p:nvPr/>
        </p:nvSpPr>
        <p:spPr>
          <a:xfrm>
            <a:off x="1839947" y="1198755"/>
            <a:ext cx="54864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4ED73E2-7C8E-B989-54E0-718D613C5A34}"/>
              </a:ext>
            </a:extLst>
          </p:cNvPr>
          <p:cNvSpPr/>
          <p:nvPr/>
        </p:nvSpPr>
        <p:spPr>
          <a:xfrm>
            <a:off x="2022827" y="1281051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Large Data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D5D9DF9-16EC-008B-A018-EF3F1867B5B8}"/>
              </a:ext>
            </a:extLst>
          </p:cNvPr>
          <p:cNvSpPr/>
          <p:nvPr/>
        </p:nvSpPr>
        <p:spPr>
          <a:xfrm>
            <a:off x="2022826" y="1537083"/>
            <a:ext cx="366429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Word, text, books, articles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on which model is to be trained. Potentially many PB of data. 1GB data ~ 178million words. 1PB data = 1MillionGB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030AA39-25D0-CF19-D07C-1DD7FBD7C7B4}"/>
              </a:ext>
            </a:extLst>
          </p:cNvPr>
          <p:cNvSpPr/>
          <p:nvPr/>
        </p:nvSpPr>
        <p:spPr>
          <a:xfrm>
            <a:off x="1894811" y="2291463"/>
            <a:ext cx="3877056" cy="96012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61E21D8-70A4-CB66-4C72-08696B48F01E}"/>
              </a:ext>
            </a:extLst>
          </p:cNvPr>
          <p:cNvSpPr/>
          <p:nvPr/>
        </p:nvSpPr>
        <p:spPr>
          <a:xfrm>
            <a:off x="1839947" y="2296035"/>
            <a:ext cx="54864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5AF840E-4D9D-CBD5-0CD8-F0304EDD20CF}"/>
              </a:ext>
            </a:extLst>
          </p:cNvPr>
          <p:cNvSpPr/>
          <p:nvPr/>
        </p:nvSpPr>
        <p:spPr>
          <a:xfrm>
            <a:off x="2022827" y="2378331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0B4783D-1F3F-C846-758A-53C4D32B6367}"/>
              </a:ext>
            </a:extLst>
          </p:cNvPr>
          <p:cNvSpPr/>
          <p:nvPr/>
        </p:nvSpPr>
        <p:spPr>
          <a:xfrm>
            <a:off x="2022827" y="2634363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GPT – Transformer Architecture. Finding context of a word in relation to every other word. 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15102AC-A9B2-B0E0-823E-150B163B69EB}"/>
              </a:ext>
            </a:extLst>
          </p:cNvPr>
          <p:cNvSpPr/>
          <p:nvPr/>
        </p:nvSpPr>
        <p:spPr>
          <a:xfrm>
            <a:off x="1839947" y="3393315"/>
            <a:ext cx="3931920" cy="134874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FEC4929-92F3-6F67-87D7-2B48084CCEC3}"/>
              </a:ext>
            </a:extLst>
          </p:cNvPr>
          <p:cNvSpPr/>
          <p:nvPr/>
        </p:nvSpPr>
        <p:spPr>
          <a:xfrm>
            <a:off x="1839947" y="3393315"/>
            <a:ext cx="54864" cy="13487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D92D053-715F-57C0-E62F-1859652EB724}"/>
              </a:ext>
            </a:extLst>
          </p:cNvPr>
          <p:cNvSpPr/>
          <p:nvPr/>
        </p:nvSpPr>
        <p:spPr>
          <a:xfrm>
            <a:off x="2022827" y="3475611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B1670C5-F321-5BF7-80A0-9BC03B49BE07}"/>
              </a:ext>
            </a:extLst>
          </p:cNvPr>
          <p:cNvSpPr/>
          <p:nvPr/>
        </p:nvSpPr>
        <p:spPr>
          <a:xfrm>
            <a:off x="2022827" y="3731643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9997B0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9997B0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this architecture. Find best guess and iterate on that to correctly generated the most accurate result. Tumkur is a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Tumkur is a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town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Tumkur is a city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4472C4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2837864D-1E87-88AC-BA89-F257E40FFA92}"/>
              </a:ext>
            </a:extLst>
          </p:cNvPr>
          <p:cNvSpPr/>
          <p:nvPr/>
        </p:nvSpPr>
        <p:spPr>
          <a:xfrm>
            <a:off x="3650162" y="2158875"/>
            <a:ext cx="156117" cy="1371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Arrow: Curved Left 35">
            <a:extLst>
              <a:ext uri="{FF2B5EF4-FFF2-40B4-BE49-F238E27FC236}">
                <a16:creationId xmlns:a16="http://schemas.microsoft.com/office/drawing/2014/main" id="{3C2BAB72-0CE2-324D-FDC1-BFE06FD54882}"/>
              </a:ext>
            </a:extLst>
          </p:cNvPr>
          <p:cNvSpPr/>
          <p:nvPr/>
        </p:nvSpPr>
        <p:spPr>
          <a:xfrm>
            <a:off x="5771867" y="2720897"/>
            <a:ext cx="548642" cy="134874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Arrow: Curved Down 36">
            <a:extLst>
              <a:ext uri="{FF2B5EF4-FFF2-40B4-BE49-F238E27FC236}">
                <a16:creationId xmlns:a16="http://schemas.microsoft.com/office/drawing/2014/main" id="{01FB773F-B630-65F7-413B-2FE9EE784E1B}"/>
              </a:ext>
            </a:extLst>
          </p:cNvPr>
          <p:cNvSpPr/>
          <p:nvPr/>
        </p:nvSpPr>
        <p:spPr>
          <a:xfrm rot="16200000">
            <a:off x="953463" y="3095542"/>
            <a:ext cx="1271239" cy="446866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9219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150" normalizeH="0" baseline="0" noProof="0">
                <a:ln>
                  <a:noFill/>
                </a:ln>
                <a:solidFill>
                  <a:srgbClr val="FCD3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LESSON 02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Tokenization: AI's Reading Glasses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937760" cy="141732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CD3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token?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1536192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0EE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Computers don't understand words — they understand numbers. Tokenization breaks text into small pieces called tokens, each converted to a number the AI can process.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4937760" cy="114300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272491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Here is a simple example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990088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>
                <a:ln>
                  <a:noFill/>
                </a:ln>
                <a:solidFill>
                  <a:srgbClr val="F0EE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 can't read full words, but you're great with letter chunks. 'Unbelievable' → ["Un", "believ", "able"]. Each chunk = one token. That's all tokenization is.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577840" y="1143000"/>
            <a:ext cx="3108960" cy="82296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69280" y="12161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"cat"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269480" y="121615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 1 token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669280" y="151790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Common short words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577840" y="2112264"/>
            <a:ext cx="3108960" cy="82296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69280" y="218541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"running"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269480" y="218541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 2 tokens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669280" y="24871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"run" + "ning"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577840" y="3081528"/>
            <a:ext cx="3108960" cy="82296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669280" y="3154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25C5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"unbelievable"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269480" y="3154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 3 tokens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669280" y="34564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Long &amp; rare words split up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577840" y="4050792"/>
            <a:ext cx="3108960" cy="82296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669280" y="412394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"1234"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269480" y="412394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 4 tokens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669280" y="44256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Numbers split in small groups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15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LESSON 03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Embeddings: Words as Points in Space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86868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64008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0EE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After tokenizing, each token is converted to a vector — a list of ~4,000 numbers that encodes its meaning. Similar words land near each other in this high-dimensional space.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3931920" cy="137160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64008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1762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Here is a simple example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245059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>
                <a:ln>
                  <a:noFill/>
                </a:ln>
                <a:solidFill>
                  <a:srgbClr val="F0EE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map where every word is a city. 'King' and 'Queen' are close together. 'Happy' and 'Joyful' are neighbours. 'Banana' is far from 'Democracy'. The AI uses these distances to understand meaning.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0" y="2103120"/>
            <a:ext cx="4114800" cy="137160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09160" y="2176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6366F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Famous Equation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0" y="25146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king − man + woman ≈ queen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09160" y="29443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Vector arithmetic works on meaning. The model learned this automatically from reading text — it was never explicitly told.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2560320" cy="804672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37216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~4,096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40599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Numbers per token in large models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91840" y="3657600"/>
            <a:ext cx="2560320" cy="804672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91840" y="37216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Similar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91840" y="40599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words have similar vectors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26480" y="3657600"/>
            <a:ext cx="2560320" cy="804672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126480" y="37216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Meaning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26480" y="40599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is encoded as geometry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F71981-4C25-B095-B0FA-B8430BF37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D7EB75A-EBAE-404B-4E07-5656570C048F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7B95833-D5EB-0975-E405-6BF16CAD4426}"/>
              </a:ext>
            </a:extLst>
          </p:cNvPr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4ED356E-5F5E-E1BE-EA2D-211FA4C705FD}"/>
              </a:ext>
            </a:extLst>
          </p:cNvPr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15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LESSON 03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27E951E-7F39-870F-4320-9F0C961C5B5D}"/>
              </a:ext>
            </a:extLst>
          </p:cNvPr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Embeddings: Cont..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1669B0A4-4E45-C90F-993E-C2CF1A52286F}"/>
              </a:ext>
            </a:extLst>
          </p:cNvPr>
          <p:cNvSpPr/>
          <p:nvPr/>
        </p:nvSpPr>
        <p:spPr>
          <a:xfrm>
            <a:off x="1920240" y="976745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king − man + woman ≈ queen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F19C537C-F445-8545-1F74-973747674EA0}"/>
              </a:ext>
            </a:extLst>
          </p:cNvPr>
          <p:cNvGraphicFramePr>
            <a:graphicFrameLocks noGrp="1"/>
          </p:cNvGraphicFramePr>
          <p:nvPr/>
        </p:nvGraphicFramePr>
        <p:xfrm>
          <a:off x="556161" y="1459230"/>
          <a:ext cx="5660571" cy="18288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60796">
                  <a:extLst>
                    <a:ext uri="{9D8B030D-6E8A-4147-A177-3AD203B41FA5}">
                      <a16:colId xmlns:a16="http://schemas.microsoft.com/office/drawing/2014/main" val="1984972871"/>
                    </a:ext>
                  </a:extLst>
                </a:gridCol>
                <a:gridCol w="704702">
                  <a:extLst>
                    <a:ext uri="{9D8B030D-6E8A-4147-A177-3AD203B41FA5}">
                      <a16:colId xmlns:a16="http://schemas.microsoft.com/office/drawing/2014/main" val="1054566206"/>
                    </a:ext>
                  </a:extLst>
                </a:gridCol>
                <a:gridCol w="760461">
                  <a:extLst>
                    <a:ext uri="{9D8B030D-6E8A-4147-A177-3AD203B41FA5}">
                      <a16:colId xmlns:a16="http://schemas.microsoft.com/office/drawing/2014/main" val="1111638277"/>
                    </a:ext>
                  </a:extLst>
                </a:gridCol>
                <a:gridCol w="808653">
                  <a:extLst>
                    <a:ext uri="{9D8B030D-6E8A-4147-A177-3AD203B41FA5}">
                      <a16:colId xmlns:a16="http://schemas.microsoft.com/office/drawing/2014/main" val="2443371369"/>
                    </a:ext>
                  </a:extLst>
                </a:gridCol>
                <a:gridCol w="808653">
                  <a:extLst>
                    <a:ext uri="{9D8B030D-6E8A-4147-A177-3AD203B41FA5}">
                      <a16:colId xmlns:a16="http://schemas.microsoft.com/office/drawing/2014/main" val="1057595212"/>
                    </a:ext>
                  </a:extLst>
                </a:gridCol>
                <a:gridCol w="727159">
                  <a:extLst>
                    <a:ext uri="{9D8B030D-6E8A-4147-A177-3AD203B41FA5}">
                      <a16:colId xmlns:a16="http://schemas.microsoft.com/office/drawing/2014/main" val="2537940026"/>
                    </a:ext>
                  </a:extLst>
                </a:gridCol>
                <a:gridCol w="890147">
                  <a:extLst>
                    <a:ext uri="{9D8B030D-6E8A-4147-A177-3AD203B41FA5}">
                      <a16:colId xmlns:a16="http://schemas.microsoft.com/office/drawing/2014/main" val="3881535062"/>
                    </a:ext>
                  </a:extLst>
                </a:gridCol>
              </a:tblGrid>
              <a:tr h="290195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Battle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Horse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King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Man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Queen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Woman</a:t>
                      </a:r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18809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r>
                        <a:rPr lang="en-US" sz="1400"/>
                        <a:t>Authority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0.01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0.2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0.2</a:t>
                      </a:r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279223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r>
                        <a:rPr lang="en-US" sz="1400"/>
                        <a:t>Event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</a:t>
                      </a:r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5132233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r>
                        <a:rPr lang="en-US" sz="1400"/>
                        <a:t>Has tail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</a:t>
                      </a:r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076667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r>
                        <a:rPr lang="en-US" sz="1400"/>
                        <a:t>Rich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0.1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0.3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0.2</a:t>
                      </a:r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629325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r>
                        <a:rPr lang="en-US" sz="1400"/>
                        <a:t>Gender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-1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-1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</a:t>
                      </a:r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137058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510201B5-307D-7CF9-8B81-E34B5ED91357}"/>
              </a:ext>
            </a:extLst>
          </p:cNvPr>
          <p:cNvGraphicFramePr>
            <a:graphicFrameLocks noGrp="1"/>
          </p:cNvGraphicFramePr>
          <p:nvPr/>
        </p:nvGraphicFramePr>
        <p:xfrm>
          <a:off x="556161" y="3359035"/>
          <a:ext cx="4362476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3933">
                  <a:extLst>
                    <a:ext uri="{9D8B030D-6E8A-4147-A177-3AD203B41FA5}">
                      <a16:colId xmlns:a16="http://schemas.microsoft.com/office/drawing/2014/main" val="1175555724"/>
                    </a:ext>
                  </a:extLst>
                </a:gridCol>
                <a:gridCol w="741082">
                  <a:extLst>
                    <a:ext uri="{9D8B030D-6E8A-4147-A177-3AD203B41FA5}">
                      <a16:colId xmlns:a16="http://schemas.microsoft.com/office/drawing/2014/main" val="678465999"/>
                    </a:ext>
                  </a:extLst>
                </a:gridCol>
                <a:gridCol w="782918">
                  <a:extLst>
                    <a:ext uri="{9D8B030D-6E8A-4147-A177-3AD203B41FA5}">
                      <a16:colId xmlns:a16="http://schemas.microsoft.com/office/drawing/2014/main" val="3096988687"/>
                    </a:ext>
                  </a:extLst>
                </a:gridCol>
                <a:gridCol w="1894543">
                  <a:extLst>
                    <a:ext uri="{9D8B030D-6E8A-4147-A177-3AD203B41FA5}">
                      <a16:colId xmlns:a16="http://schemas.microsoft.com/office/drawing/2014/main" val="3169314999"/>
                    </a:ext>
                  </a:extLst>
                </a:gridCol>
              </a:tblGrid>
              <a:tr h="247881">
                <a:tc>
                  <a:txBody>
                    <a:bodyPr/>
                    <a:lstStyle/>
                    <a:p>
                      <a:r>
                        <a:rPr lang="en-US" sz="1200"/>
                        <a:t>King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-Man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+Women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Result</a:t>
                      </a:r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200" b="1">
                          <a:solidFill>
                            <a:schemeClr val="bg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≈ Queen</a:t>
                      </a:r>
                      <a:endParaRPr lang="en-IN" sz="12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409554"/>
                  </a:ext>
                </a:extLst>
              </a:tr>
              <a:tr h="247881"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0.2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0.2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534890"/>
                  </a:ext>
                </a:extLst>
              </a:tr>
              <a:tr h="247881">
                <a:tc>
                  <a:txBody>
                    <a:bodyPr/>
                    <a:lstStyle/>
                    <a:p>
                      <a:r>
                        <a:rPr lang="en-US" sz="1200"/>
                        <a:t>0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441717"/>
                  </a:ext>
                </a:extLst>
              </a:tr>
              <a:tr h="247881">
                <a:tc>
                  <a:txBody>
                    <a:bodyPr/>
                    <a:lstStyle/>
                    <a:p>
                      <a:r>
                        <a:rPr lang="en-US" sz="1200"/>
                        <a:t>0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867635"/>
                  </a:ext>
                </a:extLst>
              </a:tr>
              <a:tr h="247881"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0.3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0.2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0.9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524633"/>
                  </a:ext>
                </a:extLst>
              </a:tr>
              <a:tr h="247881">
                <a:tc>
                  <a:txBody>
                    <a:bodyPr/>
                    <a:lstStyle/>
                    <a:p>
                      <a:r>
                        <a:rPr lang="en-US" sz="1200"/>
                        <a:t>-1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-1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7852614"/>
                  </a:ext>
                </a:extLst>
              </a:tr>
            </a:tbl>
          </a:graphicData>
        </a:graphic>
      </p:graphicFrame>
      <p:sp>
        <p:nvSpPr>
          <p:cNvPr id="31" name="Cover 30"/>
          <p:cNvSpPr/>
          <p:nvPr/>
        </p:nvSpPr>
        <p:spPr>
          <a:xfrm>
            <a:off x="3030368" y="3359036"/>
            <a:ext cx="1894543" cy="1645920"/>
          </a:xfrm>
          <a:prstGeom prst="rect">
            <a:avLst/>
          </a:prstGeom>
          <a:solidFill>
            <a:srgbClr val="0D0D1A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09B77CE-AF96-5AEB-01BA-8D311B995762}"/>
              </a:ext>
            </a:extLst>
          </p:cNvPr>
          <p:cNvGrpSpPr/>
          <p:nvPr/>
        </p:nvGrpSpPr>
        <p:grpSpPr>
          <a:xfrm>
            <a:off x="6358320" y="1983960"/>
            <a:ext cx="1897108" cy="1097280"/>
            <a:chOff x="6358320" y="1983960"/>
            <a:chExt cx="1897108" cy="1097280"/>
          </a:xfrm>
        </p:grpSpPr>
        <p:sp>
          <p:nvSpPr>
            <p:cNvPr id="10" name="Text 16">
              <a:extLst>
                <a:ext uri="{FF2B5EF4-FFF2-40B4-BE49-F238E27FC236}">
                  <a16:creationId xmlns:a16="http://schemas.microsoft.com/office/drawing/2014/main" id="{1868E561-9743-5458-C950-0C5DDB29A819}"/>
                </a:ext>
              </a:extLst>
            </p:cNvPr>
            <p:cNvSpPr/>
            <p:nvPr/>
          </p:nvSpPr>
          <p:spPr>
            <a:xfrm>
              <a:off x="6654014" y="2288647"/>
              <a:ext cx="1601414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10B981"/>
                  </a:solidFill>
                  <a:effectLst/>
                  <a:uLnTx/>
                  <a:uFillTx/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Dimensions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直線接點 10">
              <a:extLst>
                <a:ext uri="{FF2B5EF4-FFF2-40B4-BE49-F238E27FC236}">
                  <a16:creationId xmlns:a16="http://schemas.microsoft.com/office/drawing/2014/main" id="{02B7527A-8DD0-49EE-A24F-46C5F32A3221}"/>
                </a:ext>
              </a:extLst>
            </p:cNvPr>
            <p:cNvSpPr/>
            <p:nvPr/>
          </p:nvSpPr>
          <p:spPr>
            <a:xfrm rot="5400000">
              <a:off x="5985360" y="2532600"/>
              <a:ext cx="1097280" cy="0"/>
            </a:xfrm>
            <a:prstGeom prst="line">
              <a:avLst/>
            </a:prstGeom>
            <a:gradFill>
              <a:gsLst>
                <a:gs pos="1000">
                  <a:srgbClr val="489CD1">
                    <a:alpha val="5000"/>
                  </a:srgbClr>
                </a:gs>
                <a:gs pos="25000">
                  <a:srgbClr val="A9D7B2">
                    <a:alpha val="5000"/>
                  </a:srgbClr>
                </a:gs>
                <a:gs pos="50000">
                  <a:srgbClr val="B92B65">
                    <a:alpha val="5000"/>
                  </a:srgbClr>
                </a:gs>
                <a:gs pos="76000">
                  <a:srgbClr val="9B2486">
                    <a:alpha val="5000"/>
                  </a:srgbClr>
                </a:gs>
                <a:gs pos="100000">
                  <a:srgbClr val="244F85">
                    <a:alpha val="5000"/>
                  </a:srgbClr>
                </a:gs>
              </a:gsLst>
            </a:gradFill>
            <a:ln w="18000">
              <a:gradFill>
                <a:gsLst>
                  <a:gs pos="1000">
                    <a:srgbClr val="489CD1"/>
                  </a:gs>
                  <a:gs pos="25000">
                    <a:srgbClr val="A9D7B2"/>
                  </a:gs>
                  <a:gs pos="50000">
                    <a:srgbClr val="B92B65"/>
                  </a:gs>
                  <a:gs pos="76000">
                    <a:srgbClr val="9B2486"/>
                  </a:gs>
                  <a:gs pos="100000">
                    <a:srgbClr val="244F85"/>
                  </a:gs>
                </a:gsLst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 anchorCtr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1000">
                      <a:srgbClr val="489CD1"/>
                    </a:gs>
                    <a:gs pos="25000">
                      <a:srgbClr val="A9D7B2"/>
                    </a:gs>
                    <a:gs pos="50000">
                      <a:srgbClr val="B92B65"/>
                    </a:gs>
                    <a:gs pos="76000">
                      <a:srgbClr val="9B2486"/>
                    </a:gs>
                    <a:gs pos="100000">
                      <a:srgbClr val="244F85"/>
                    </a:gs>
                  </a:gsLst>
                </a:gra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直線接點 11">
              <a:extLst>
                <a:ext uri="{FF2B5EF4-FFF2-40B4-BE49-F238E27FC236}">
                  <a16:creationId xmlns:a16="http://schemas.microsoft.com/office/drawing/2014/main" id="{9CF7CCD6-725A-4A89-BA08-14E8D59E09B2}"/>
                </a:ext>
              </a:extLst>
            </p:cNvPr>
            <p:cNvSpPr/>
            <p:nvPr/>
          </p:nvSpPr>
          <p:spPr>
            <a:xfrm rot="10800000">
              <a:off x="6358320" y="3081240"/>
              <a:ext cx="182880" cy="0"/>
            </a:xfrm>
            <a:prstGeom prst="line">
              <a:avLst/>
            </a:prstGeom>
            <a:gradFill>
              <a:gsLst>
                <a:gs pos="1000">
                  <a:srgbClr val="489CD1">
                    <a:alpha val="5000"/>
                  </a:srgbClr>
                </a:gs>
                <a:gs pos="25000">
                  <a:srgbClr val="A9D7B2">
                    <a:alpha val="5000"/>
                  </a:srgbClr>
                </a:gs>
                <a:gs pos="50000">
                  <a:srgbClr val="B92B65">
                    <a:alpha val="5000"/>
                  </a:srgbClr>
                </a:gs>
                <a:gs pos="76000">
                  <a:srgbClr val="9B2486">
                    <a:alpha val="5000"/>
                  </a:srgbClr>
                </a:gs>
                <a:gs pos="100000">
                  <a:srgbClr val="244F85">
                    <a:alpha val="5000"/>
                  </a:srgbClr>
                </a:gs>
              </a:gsLst>
            </a:gradFill>
            <a:ln w="18000">
              <a:gradFill>
                <a:gsLst>
                  <a:gs pos="1000">
                    <a:srgbClr val="489CD1"/>
                  </a:gs>
                  <a:gs pos="25000">
                    <a:srgbClr val="A9D7B2"/>
                  </a:gs>
                  <a:gs pos="50000">
                    <a:srgbClr val="B92B65"/>
                  </a:gs>
                  <a:gs pos="76000">
                    <a:srgbClr val="9B2486"/>
                  </a:gs>
                  <a:gs pos="100000">
                    <a:srgbClr val="244F85"/>
                  </a:gs>
                </a:gsLst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 anchorCtr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1000">
                      <a:srgbClr val="489CD1"/>
                    </a:gs>
                    <a:gs pos="25000">
                      <a:srgbClr val="A9D7B2"/>
                    </a:gs>
                    <a:gs pos="50000">
                      <a:srgbClr val="B92B65"/>
                    </a:gs>
                    <a:gs pos="76000">
                      <a:srgbClr val="9B2486"/>
                    </a:gs>
                    <a:gs pos="100000">
                      <a:srgbClr val="244F85"/>
                    </a:gs>
                  </a:gsLst>
                </a:gra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Straight Connector 12">
              <a:extLst>
                <a:ext uri="{FF2B5EF4-FFF2-40B4-BE49-F238E27FC236}">
                  <a16:creationId xmlns:a16="http://schemas.microsoft.com/office/drawing/2014/main" id="{DBFDBB4F-8795-4EEF-B708-6F1E3FDBAD20}"/>
                </a:ext>
              </a:extLst>
            </p:cNvPr>
            <p:cNvSpPr/>
            <p:nvPr/>
          </p:nvSpPr>
          <p:spPr>
            <a:xfrm>
              <a:off x="6358320" y="1989720"/>
              <a:ext cx="182880" cy="0"/>
            </a:xfrm>
            <a:prstGeom prst="line">
              <a:avLst/>
            </a:prstGeom>
            <a:gradFill>
              <a:gsLst>
                <a:gs pos="1000">
                  <a:srgbClr val="489CD1">
                    <a:alpha val="5000"/>
                  </a:srgbClr>
                </a:gs>
                <a:gs pos="25000">
                  <a:srgbClr val="A9D7B2">
                    <a:alpha val="5000"/>
                  </a:srgbClr>
                </a:gs>
                <a:gs pos="50000">
                  <a:srgbClr val="B92B65">
                    <a:alpha val="5000"/>
                  </a:srgbClr>
                </a:gs>
                <a:gs pos="76000">
                  <a:srgbClr val="9B2486">
                    <a:alpha val="5000"/>
                  </a:srgbClr>
                </a:gs>
                <a:gs pos="100000">
                  <a:srgbClr val="244F85">
                    <a:alpha val="5000"/>
                  </a:srgbClr>
                </a:gs>
              </a:gsLst>
            </a:gradFill>
            <a:ln w="18000">
              <a:gradFill>
                <a:gsLst>
                  <a:gs pos="1000">
                    <a:srgbClr val="489CD1"/>
                  </a:gs>
                  <a:gs pos="25000">
                    <a:srgbClr val="A9D7B2"/>
                  </a:gs>
                  <a:gs pos="50000">
                    <a:srgbClr val="B92B65"/>
                  </a:gs>
                  <a:gs pos="76000">
                    <a:srgbClr val="9B2486"/>
                  </a:gs>
                  <a:gs pos="100000">
                    <a:srgbClr val="244F85"/>
                  </a:gs>
                </a:gsLst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 anchorCtr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1000">
                      <a:srgbClr val="489CD1"/>
                    </a:gs>
                    <a:gs pos="25000">
                      <a:srgbClr val="A9D7B2"/>
                    </a:gs>
                    <a:gs pos="50000">
                      <a:srgbClr val="B92B65"/>
                    </a:gs>
                    <a:gs pos="76000">
                      <a:srgbClr val="9B2486"/>
                    </a:gs>
                    <a:gs pos="100000">
                      <a:srgbClr val="244F85"/>
                    </a:gs>
                  </a:gsLst>
                </a:gra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4861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Next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evt="onNext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Graphic spid="29" grpId="0">
        <p:bldAsOne/>
      </p:bldGraphic>
      <p:bldGraphic spid="30" grpId="0">
        <p:bldAsOne/>
      </p:bldGraphic>
      <p:bldP spid="3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65AC8B-42F1-2085-F8B8-DCF4047D3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00B067-6A9E-5357-3EC3-3B6D09CDF70F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4851FDB-519D-E1D2-C001-AF5AB4C8A222}"/>
              </a:ext>
            </a:extLst>
          </p:cNvPr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8F5F1BB-2EB3-8587-6832-34E65BBB0ECA}"/>
              </a:ext>
            </a:extLst>
          </p:cNvPr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15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LESSON 03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2031D3D-15D8-3BE6-F805-04BBC503BD39}"/>
              </a:ext>
            </a:extLst>
          </p:cNvPr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Embeddings: Cont..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A45C3F8A-168F-A176-2C96-8785FC45C7E3}"/>
              </a:ext>
            </a:extLst>
          </p:cNvPr>
          <p:cNvSpPr/>
          <p:nvPr/>
        </p:nvSpPr>
        <p:spPr>
          <a:xfrm>
            <a:off x="1920240" y="976745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King in a 3 dimension 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FA0FF0-5A5A-B664-FA1C-025D88AA7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199" y="1416959"/>
            <a:ext cx="5128687" cy="3561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63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Next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C97733-35B5-E717-17B4-1451D4D6B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93DFAB-BA7D-BCAD-6D04-5AD9FBC7ECE7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E397ACC-72EF-9186-36A5-5D4C132ECAB6}"/>
              </a:ext>
            </a:extLst>
          </p:cNvPr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29777AE-30F2-CCB9-2DEA-0E4D01CCF198}"/>
              </a:ext>
            </a:extLst>
          </p:cNvPr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15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LESSON 03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9187ACA-2A2C-B159-0EDB-5385CDC36011}"/>
              </a:ext>
            </a:extLst>
          </p:cNvPr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Embeddings: Cont..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3F708903-A5D0-9DC4-DAB4-9AA4BB820884}"/>
              </a:ext>
            </a:extLst>
          </p:cNvPr>
          <p:cNvSpPr/>
          <p:nvPr/>
        </p:nvSpPr>
        <p:spPr>
          <a:xfrm>
            <a:off x="1920240" y="976745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King in a 300+ dimension space 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BEC16B-EC1D-6ADA-EA15-CA831B8F29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134"/>
          <a:stretch>
            <a:fillRect/>
          </a:stretch>
        </p:blipFill>
        <p:spPr>
          <a:xfrm>
            <a:off x="1421610" y="1385616"/>
            <a:ext cx="5112059" cy="375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10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Next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61E58A-9620-9C91-2881-D672793C3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D07802-E437-251C-9263-CAA39C562288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8542234-7D9F-82F3-DCA8-A1F931C1AE02}"/>
              </a:ext>
            </a:extLst>
          </p:cNvPr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6AE58C2-ABA8-6505-0504-9082D64AE7FA}"/>
              </a:ext>
            </a:extLst>
          </p:cNvPr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15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LESSON 03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C83CE4A-682A-BBD8-6736-2CD94A61835A}"/>
              </a:ext>
            </a:extLst>
          </p:cNvPr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Dimensions: Why 300+ Numbers Per Word?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4008" cy="731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143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F0EE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 the previous slide we showed only 5 dimensions (authority, event, has tail, rich, gender). But real models like GPT use </a:t>
            </a:r>
            <a:r>
              <a:rPr kumimoji="0" lang="en-US" sz="1250" b="1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300 to 12,288 dimensions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F0EE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per word. Each dimension captures some aspect of meaning — most are abstract patterns that even humans can’t easily name.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931920" cy="228600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64008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“King” in 300 Dimensions (simplified)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2240280"/>
            <a:ext cx="3566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49" charset="0"/>
                <a:ea typeface="Calibri" pitchFamily="34" charset="-122"/>
                <a:cs typeface="Calibri" pitchFamily="34" charset="-120"/>
              </a:rPr>
              <a:t>king = [0.92, -0.71, 0.44, 0.03, ...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49" charset="0"/>
                <a:ea typeface="Calibri" pitchFamily="34" charset="-122"/>
                <a:cs typeface="Calibri" pitchFamily="34" charset="-120"/>
              </a:rPr>
              <a:t>          ...0.88, -0.15, 0.67]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0EE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Each number captures a hidden feature: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Dim 1 → royalty?  Dim 2 → gender?  Dim 3 → formality?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Dim 4 → animacy?  ...  Dim 300 → ???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>
                <a:ln>
                  <a:noFill/>
                </a:ln>
                <a:solidFill>
                  <a:srgbClr val="F0EE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Most dimensions don’t have neat human labels. The model discovers abstract patterns we can’t easily name.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0" y="1920240"/>
            <a:ext cx="4114800" cy="228600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09160" y="1965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>
                <a:ln>
                  <a:noFill/>
                </a:ln>
                <a:solidFill>
                  <a:srgbClr val="6366F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Are Dimensions Generated?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09160" y="2240280"/>
            <a:ext cx="38404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0EE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Nobody hand-picks these dimensions. They are </a:t>
            </a: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learned automatically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0EE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during training: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1. Start random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word gets a random list of 300 numbers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2. Read context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— The model sees billions of sentences and notices which words appear near each other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3. Adjust numbers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— Words in similar contexts get pushed closer in the 300-number space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4. Repeat billions of times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— After trillions of adjustments, the numbers encode real meaning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4389120"/>
            <a:ext cx="2560320" cy="64008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4389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Word2Vec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47186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300 dims — Google, 2013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91840" y="4389120"/>
            <a:ext cx="2560320" cy="64008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91840" y="4389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GPT-3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91840" y="47186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12,288 dims — OpenAI, 2020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26480" y="4389120"/>
            <a:ext cx="2560320" cy="64008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126480" y="4389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More?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26480" y="47186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More dims = finer meaning shades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301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F25C54">
              <a:alpha val="25000"/>
            </a:srgbClr>
          </a:solidFill>
          <a:ln w="12700">
            <a:solidFill>
              <a:srgbClr val="F25C5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150" normalizeH="0" baseline="0" noProof="0">
                <a:ln>
                  <a:noFill/>
                </a:ln>
                <a:solidFill>
                  <a:srgbClr val="F25C5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LESSON 04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Training: The One Task That Explains Everything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64008" cy="777240"/>
          </a:xfrm>
          <a:prstGeom prst="rect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0EE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During training, the model is shown billions of sentences with the last word removed. Its job: predict the missing word. Do this a trillion times — and deep understanding of language emerges.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937760" cy="91440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6400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08483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Here is a simple example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235000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>
                <a:ln>
                  <a:noFill/>
                </a:ln>
                <a:solidFill>
                  <a:srgbClr val="F0EE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"The sky is ___" → You'd say "blue." Now imagine doing this for every kind of sentence — factual, creative, technical, emotional — billions of times. That's training.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577840" y="2011680"/>
            <a:ext cx="3108960" cy="841248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650992" y="2084832"/>
            <a:ext cx="347472" cy="347472"/>
          </a:xfrm>
          <a:prstGeom prst="ellipse">
            <a:avLst/>
          </a:prstGeom>
          <a:solidFill>
            <a:srgbClr val="4F46E5">
              <a:alpha val="30000"/>
            </a:srgbClr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50992" y="20848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80760" y="20848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80760" y="235000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Trillion words, predict next token. Weeks on 1,000s of GPUs.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577840" y="2990088"/>
            <a:ext cx="3108960" cy="841248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650992" y="3063240"/>
            <a:ext cx="347472" cy="347472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50992" y="3063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080760" y="3063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Tuning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080760" y="332841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Q→A examples. Teach it to be actually helpful.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577840" y="3968496"/>
            <a:ext cx="3108960" cy="841248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650992" y="4041648"/>
            <a:ext cx="347472" cy="347472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650992" y="40416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080760" y="40416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Human Feedback (RLHF)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080760" y="430682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Humans rate outputs. Model learns to prefer better answers.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7200" y="3063240"/>
            <a:ext cx="4937760" cy="91440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94360" y="31272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Why AI isn't always predictable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94360" y="341985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🥶 Low temp: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0EE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Picks the safest, most likely word. Good for facts.  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25C5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🔥 High temp: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0EE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Samples creatively. More surprising, occasionally weird.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Recap 💡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9997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we just covered — in one slide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150876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64008" cy="15087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🧠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69330" y="1412081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4F46E5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F0EE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giant pattern-learning machine trained on human language. Not magic — math.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00600" y="1143000"/>
            <a:ext cx="3931920" cy="150876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00600" y="1143000"/>
            <a:ext cx="64008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3776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🔍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23560" y="140478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37760" y="1920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F0EE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Text is broken into chunks (tokens), each converted to a number. ~1 token ≈ ¾ word.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27884" y="2834640"/>
            <a:ext cx="3931920" cy="150876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64008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9436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🔢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40532" y="3119439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94360" y="36118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F0EE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Tokens become vectors — lists of numbers that place meaning in geometric space.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00600" y="2834640"/>
            <a:ext cx="3931920" cy="1508760"/>
          </a:xfrm>
          <a:prstGeom prst="rect">
            <a:avLst/>
          </a:prstGeom>
          <a:solidFill>
            <a:srgbClr val="1A1A30"/>
          </a:solidFill>
          <a:ln w="12700">
            <a:solidFill>
              <a:srgbClr val="2E2E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800600" y="2834640"/>
            <a:ext cx="64008" cy="1508760"/>
          </a:xfrm>
          <a:prstGeom prst="rect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3776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🎯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623560" y="3063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25C54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937760" y="36118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F0EE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next word. Repeat a trillion times. Understanding emerges from scale.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🎤  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?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8F39D5C-DD4B-1AFB-9E18-A76E8CFBB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6725" y="1134151"/>
            <a:ext cx="1718685" cy="93746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E6BB775-C291-2368-2757-4ABFCAB8D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0125" y="1155536"/>
            <a:ext cx="1712395" cy="93403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348B965-C9E3-6915-76E9-74DB9DDD82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7409" y="2824823"/>
            <a:ext cx="1712395" cy="93403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DCB42F9-CC9F-16C4-DDB4-9D872F6E39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0124" y="2837674"/>
            <a:ext cx="1712396" cy="93403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LLMs as a Software Engineer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access patterns — choose based on your use case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1097280" cy="566928"/>
          </a:xfrm>
          <a:prstGeom prst="rect">
            <a:avLst/>
          </a:prstGeom>
          <a:solidFill>
            <a:srgbClr val="E2E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81328" y="1078992"/>
            <a:ext cx="2487168" cy="566928"/>
          </a:xfrm>
          <a:prstGeom prst="rect">
            <a:avLst/>
          </a:prstGeom>
          <a:solidFill>
            <a:srgbClr val="0D7377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54480" y="1115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Cloud APIs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13898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· Scalable · Paid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023360" y="1078992"/>
            <a:ext cx="2487168" cy="566928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96512" y="1115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🤗  Hugging Face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96512" y="13898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· Flexible · Self-hostable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65392" y="1078992"/>
            <a:ext cx="2487168" cy="566928"/>
          </a:xfrm>
          <a:prstGeom prst="rect">
            <a:avLst/>
          </a:prstGeom>
          <a:solidFill>
            <a:srgbClr val="14A8A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38544" y="1115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🦙  Ollama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38544" y="13898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· Private · Free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1719072"/>
            <a:ext cx="1097280" cy="566928"/>
          </a:xfrm>
          <a:prstGeom prst="rect">
            <a:avLst/>
          </a:prstGeom>
          <a:solidFill>
            <a:srgbClr val="E6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" y="171907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481328" y="1719072"/>
            <a:ext cx="2487168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554480" y="1755648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GPT-4o, Claude 3.5,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1.5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023360" y="1719072"/>
            <a:ext cx="2487168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96512" y="1755648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 3, Mistral,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Falcon, BERT, 500k+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65392" y="1719072"/>
            <a:ext cx="2487168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38544" y="1755648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 3, Mistral,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Phi-3, Gemma (local)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331720"/>
            <a:ext cx="1097280" cy="566928"/>
          </a:xfrm>
          <a:prstGeom prst="rect">
            <a:avLst/>
          </a:prstGeom>
          <a:solidFill>
            <a:srgbClr val="E2E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9184" y="233172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481328" y="2331720"/>
            <a:ext cx="2487168" cy="566928"/>
          </a:xfrm>
          <a:prstGeom prst="rect">
            <a:avLst/>
          </a:prstGeom>
          <a:solidFill>
            <a:srgbClr val="E2E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554480" y="2368296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openai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OPENAI_API_KEY=…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023360" y="2331720"/>
            <a:ext cx="2487168" cy="566928"/>
          </a:xfrm>
          <a:prstGeom prst="rect">
            <a:avLst/>
          </a:prstGeom>
          <a:solidFill>
            <a:srgbClr val="E2E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096512" y="2368296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transformers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 diffusers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65392" y="2331720"/>
            <a:ext cx="2487168" cy="566928"/>
          </a:xfrm>
          <a:prstGeom prst="rect">
            <a:avLst/>
          </a:prstGeom>
          <a:solidFill>
            <a:srgbClr val="E2E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38544" y="2368296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ollama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run llama3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2944368"/>
            <a:ext cx="1097280" cy="566928"/>
          </a:xfrm>
          <a:prstGeom prst="rect">
            <a:avLst/>
          </a:prstGeom>
          <a:solidFill>
            <a:srgbClr val="E6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9184" y="294436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481328" y="2944368"/>
            <a:ext cx="2487168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554480" y="2980944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client.chat.completions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.create(model="gpt-4o",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messages=[…])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023360" y="2944368"/>
            <a:ext cx="2487168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096512" y="2980944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pipeline("text-generation",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model="meta-llama/…")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(prompt)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565392" y="2944368"/>
            <a:ext cx="2487168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638544" y="2980944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ollama.chat(model=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"llama3",messages=[…])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3557016"/>
            <a:ext cx="1097280" cy="566928"/>
          </a:xfrm>
          <a:prstGeom prst="rect">
            <a:avLst/>
          </a:prstGeom>
          <a:solidFill>
            <a:srgbClr val="E2E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9184" y="355701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481328" y="3557016"/>
            <a:ext cx="2487168" cy="566928"/>
          </a:xfrm>
          <a:prstGeom prst="rect">
            <a:avLst/>
          </a:prstGeom>
          <a:solidFill>
            <a:srgbClr val="E2E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554480" y="3593592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 per token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~$0.005/1K tokens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023360" y="3557016"/>
            <a:ext cx="2487168" cy="566928"/>
          </a:xfrm>
          <a:prstGeom prst="rect">
            <a:avLst/>
          </a:prstGeom>
          <a:solidFill>
            <a:srgbClr val="E2E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096512" y="3593592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(self-host) 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 API (paid tier)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565392" y="3557016"/>
            <a:ext cx="2487168" cy="566928"/>
          </a:xfrm>
          <a:prstGeom prst="rect">
            <a:avLst/>
          </a:prstGeom>
          <a:solidFill>
            <a:srgbClr val="E2E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638544" y="3593592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 free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 on your machine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4320" y="4169664"/>
            <a:ext cx="1097280" cy="566928"/>
          </a:xfrm>
          <a:prstGeom prst="rect">
            <a:avLst/>
          </a:prstGeom>
          <a:solidFill>
            <a:srgbClr val="E6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29184" y="416966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481328" y="4169664"/>
            <a:ext cx="2487168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554480" y="4206240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 apps,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capability needed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023360" y="4169664"/>
            <a:ext cx="2487168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096512" y="4206240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Research, fine-tuning,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model needs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565392" y="4169664"/>
            <a:ext cx="2487168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638544" y="4206240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Privacy, offline dev,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experimentation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023360" y="1078992"/>
            <a:ext cx="0" cy="3858768"/>
          </a:xfrm>
          <a:prstGeom prst="line">
            <a:avLst/>
          </a:prstGeom>
          <a:noFill/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565392" y="1078992"/>
            <a:ext cx="0" cy="3858768"/>
          </a:xfrm>
          <a:prstGeom prst="line">
            <a:avLst/>
          </a:prstGeom>
          <a:noFill/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LLM APIs — Code Walkthrough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5303520" cy="32004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OpenAI  (cloud)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69848"/>
            <a:ext cx="5303520" cy="1920240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133856"/>
            <a:ext cx="512064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openai import OpenAI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OpenAI()          # reads OPENAI_API_KEY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client.chat.completions.create(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model="gpt-4o",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{"role": "system", "content": "You are a helpful assistant."},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{"role": "user",   "content": "Explain transformers simply."}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temperature=0.7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print(response.choices[0].message.content)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274320" y="2816352"/>
            <a:ext cx="5303520" cy="320040"/>
          </a:xfrm>
          <a:prstGeom prst="rect">
            <a:avLst/>
          </a:prstGeom>
          <a:solidFill>
            <a:srgbClr val="14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8437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Ollama  (local, same interface)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3136392"/>
            <a:ext cx="5303520" cy="1920240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3200400"/>
            <a:ext cx="512064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ollama                  # pip install ollama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ollama.chat(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model="llama3",            # model pulled locally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{"role": "user", "content": "Explain transformers simply."}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print(response["message"]["content"])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5760720" y="749808"/>
            <a:ext cx="310896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760720" y="749808"/>
            <a:ext cx="3108960" cy="3200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52160" y="777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52160" y="11338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50608" y="113385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 · creativity vs focus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52160" y="14356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max_tokens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50608" y="14356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length cap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5216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50608" y="1737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nucleus sampling cutoff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52160" y="2039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msg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50608" y="20391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role/instructions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60720" y="2487168"/>
            <a:ext cx="3108960" cy="3200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52160" y="2514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Hugging Face  (local/API)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760720" y="2807208"/>
            <a:ext cx="3108960" cy="1929384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852160" y="2862072"/>
            <a:ext cx="29718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transformers import pipeline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 = pipeline(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"text-generation",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model="meta-llama/Meta-Llama-3-8B"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gen("Explain transformers:",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max_new_tokens=200)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print(out[0]["generated_text"])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274320" y="4828032"/>
            <a:ext cx="8595360" cy="164592"/>
          </a:xfrm>
          <a:prstGeom prst="rect">
            <a:avLst/>
          </a:prstGeom>
          <a:solidFill>
            <a:srgbClr val="E2E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" y="4846320"/>
            <a:ext cx="8321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All three share near-identical interfaces — learn one, switch freely. Ollama even mirrors the OpenAI SDK.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51435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731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Techniques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Frameworks, structures and patterns for powerful prompts.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651760"/>
            <a:ext cx="1371600" cy="3657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Prompt Engineering?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105156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"Figuring out what questions to ask will be more important than figuring out the answers."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Sam Altman, CEO OpenAI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01168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📌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05840" y="3127248"/>
            <a:ext cx="1280160" cy="36576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32918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is the art and science of designing inputs that guide AI to produce accurate, useful, and relevant outputs.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01168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4612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4612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977640" y="3127248"/>
            <a:ext cx="1280160" cy="36576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83280" y="32918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AI model — wildly different outputs. A well-crafted prompt can be the difference between a useless answer and a business solution.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01168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1792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Needs It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949440" y="3127248"/>
            <a:ext cx="1280160" cy="36576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55080" y="32918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using AI tools: developers, marketers, educators, managers, researchers — any professional leveraging AI in their work.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ACE Prompting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005840" cy="1234440"/>
          </a:xfrm>
          <a:prstGeom prst="rect">
            <a:avLst/>
          </a:prstGeom>
          <a:solidFill>
            <a:srgbClr val="0D7377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1005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1417320" y="777240"/>
            <a:ext cx="74523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54480" y="868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(Role)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AI who to be.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8686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 like a senior financial analyst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 like a compassionate doctor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 like a startup marketing consultant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1005840" cy="123444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2194560"/>
            <a:ext cx="1005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1417320" y="2194560"/>
            <a:ext cx="74523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5448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boundaries for the response.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2860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data from 2022–2025 only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 response under 200 words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Format as a numbered list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1005840" cy="1234440"/>
          </a:xfrm>
          <a:prstGeom prst="rect">
            <a:avLst/>
          </a:prstGeom>
          <a:solidFill>
            <a:srgbClr val="14A8A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3611880"/>
            <a:ext cx="1005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5200" dirty="0"/>
          </a:p>
        </p:txBody>
      </p:sp>
      <p:sp>
        <p:nvSpPr>
          <p:cNvPr id="18" name="Shape 16"/>
          <p:cNvSpPr/>
          <p:nvPr/>
        </p:nvSpPr>
        <p:spPr>
          <a:xfrm>
            <a:off x="1417320" y="3611880"/>
            <a:ext cx="74523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55448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tone, style or emotional context.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370332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 motivating and direct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simple language for a 10-year-old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Make it professional and concise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TCEPFT — The Master Prompt Formula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Coffee EAT Pancake For Tea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502920" cy="54864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68680" y="1115568"/>
            <a:ext cx="1371600" cy="548640"/>
          </a:xfrm>
          <a:prstGeom prst="rect">
            <a:avLst/>
          </a:prstGeom>
          <a:solidFill>
            <a:srgbClr val="E2E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1155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1115568"/>
            <a:ext cx="65379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68880" y="111556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a 30-day LinkedIn content plan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773936"/>
            <a:ext cx="502920" cy="548640"/>
          </a:xfrm>
          <a:prstGeom prst="rect">
            <a:avLst/>
          </a:prstGeom>
          <a:solidFill>
            <a:srgbClr val="0D7377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77393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68680" y="1773936"/>
            <a:ext cx="1371600" cy="548640"/>
          </a:xfrm>
          <a:prstGeom prst="rect">
            <a:avLst/>
          </a:prstGeom>
          <a:solidFill>
            <a:srgbClr val="E2E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177393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31720" y="1773936"/>
            <a:ext cx="65379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68880" y="177393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an MBA student specialising in marketing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432304"/>
            <a:ext cx="502920" cy="548640"/>
          </a:xfrm>
          <a:prstGeom prst="rect">
            <a:avLst/>
          </a:prstGeom>
          <a:solidFill>
            <a:srgbClr val="14A8A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43230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68680" y="2432304"/>
            <a:ext cx="1371600" cy="548640"/>
          </a:xfrm>
          <a:prstGeom prst="rect">
            <a:avLst/>
          </a:prstGeom>
          <a:solidFill>
            <a:srgbClr val="E2E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243230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331720" y="2432304"/>
            <a:ext cx="65379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468880" y="243230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like: Day 1 – Topic – Key message (2 lines)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090672"/>
            <a:ext cx="502920" cy="548640"/>
          </a:xfrm>
          <a:prstGeom prst="rect">
            <a:avLst/>
          </a:prstGeom>
          <a:solidFill>
            <a:srgbClr val="F5A623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309067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68680" y="3090672"/>
            <a:ext cx="1371600" cy="548640"/>
          </a:xfrm>
          <a:prstGeom prst="rect">
            <a:avLst/>
          </a:prstGeom>
          <a:solidFill>
            <a:srgbClr val="E2E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309067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331720" y="3090672"/>
            <a:ext cx="65379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468880" y="309067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social media coach with 10+ years experience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3749040"/>
            <a:ext cx="502920" cy="548640"/>
          </a:xfrm>
          <a:prstGeom prst="rect">
            <a:avLst/>
          </a:prstGeom>
          <a:solidFill>
            <a:srgbClr val="E8534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37490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868680" y="3749040"/>
            <a:ext cx="1371600" cy="548640"/>
          </a:xfrm>
          <a:prstGeom prst="rect">
            <a:avLst/>
          </a:prstGeom>
          <a:solidFill>
            <a:srgbClr val="E2E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68680" y="3749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331720" y="3749040"/>
            <a:ext cx="65379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468880" y="374904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output as a table with Day, Topic, Hook columns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" y="4407408"/>
            <a:ext cx="502920" cy="548640"/>
          </a:xfrm>
          <a:prstGeom prst="rect">
            <a:avLst/>
          </a:prstGeom>
          <a:solidFill>
            <a:srgbClr val="27AE6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440740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868680" y="4407408"/>
            <a:ext cx="1371600" cy="548640"/>
          </a:xfrm>
          <a:prstGeom prst="rect">
            <a:avLst/>
          </a:prstGeom>
          <a:solidFill>
            <a:srgbClr val="E2E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68680" y="44074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331720" y="4407408"/>
            <a:ext cx="65379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468880" y="440740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Professional, inspiring and motivating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Prompts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889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788920" cy="5029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Instructional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3441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the AI to complete a specific task.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"Summarize this article in 3 bullet points."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777240"/>
            <a:ext cx="27889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777240"/>
            <a:ext cx="2788920" cy="50292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777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Conversational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13441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back-and-forth dialogue with context.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87452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you think AI will affect jobs in 2030?"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777240"/>
            <a:ext cx="27889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777240"/>
            <a:ext cx="2788920" cy="502920"/>
          </a:xfrm>
          <a:prstGeom prst="rect">
            <a:avLst/>
          </a:prstGeom>
          <a:solidFill>
            <a:srgbClr val="14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777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Creative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13441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original, imaginative content.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187452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story where an AI discovers it can dream."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27889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2880360"/>
            <a:ext cx="2788920" cy="5029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28803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Analytical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" y="34472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data interpretation or comparisons.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97764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"Compare Python and JavaScript for data science."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880360"/>
            <a:ext cx="27889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0" y="2880360"/>
            <a:ext cx="2788920" cy="502920"/>
          </a:xfrm>
          <a:prstGeom prst="rect">
            <a:avLst/>
          </a:prstGeom>
          <a:solidFill>
            <a:srgbClr val="E85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91840" y="28803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Chain-of-Thought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91840" y="34472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to reason step-by-step.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397764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"Think step by step: how would I solve this math problem?"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27889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26480" y="2880360"/>
            <a:ext cx="2788920" cy="5029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17920" y="28803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Role-Based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17920" y="34472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persona or expert identity.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397764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 a UX designer, critique this app wireframe."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vs. Bad Prompts — Live Examples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14800" cy="1261872"/>
          </a:xfrm>
          <a:prstGeom prst="rect">
            <a:avLst/>
          </a:prstGeom>
          <a:solidFill>
            <a:srgbClr val="FFF3F3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73152" cy="1261872"/>
          </a:xfrm>
          <a:prstGeom prst="rect">
            <a:avLst/>
          </a:prstGeom>
          <a:solidFill>
            <a:srgbClr val="E85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Bad — Startup Pitch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3385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something about my product.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749808"/>
            <a:ext cx="4297680" cy="1261872"/>
          </a:xfrm>
          <a:prstGeom prst="rect">
            <a:avLst/>
          </a:prstGeom>
          <a:solidFill>
            <a:srgbClr val="F3FFF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0" y="749808"/>
            <a:ext cx="73152" cy="126187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804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Good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133856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as a startup marketing expert. Write a 3-sentence elevator pitch for a mobile app that helps college students track study habits. Tone: energetic and motivating.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4114800" cy="1261872"/>
          </a:xfrm>
          <a:prstGeom prst="rect">
            <a:avLst/>
          </a:prstGeom>
          <a:solidFill>
            <a:srgbClr val="FFF3F3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194560"/>
            <a:ext cx="73152" cy="1261872"/>
          </a:xfrm>
          <a:prstGeom prst="rect">
            <a:avLst/>
          </a:prstGeom>
          <a:solidFill>
            <a:srgbClr val="E85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2494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Bad — Resume Writing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57860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me with my resume.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2194560"/>
            <a:ext cx="4297680" cy="1261872"/>
          </a:xfrm>
          <a:prstGeom prst="rect">
            <a:avLst/>
          </a:prstGeom>
          <a:solidFill>
            <a:srgbClr val="F3FFF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0" y="2194560"/>
            <a:ext cx="73152" cy="126187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22494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Good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57860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my resume bullet for a Data Analyst role. Improve it using strong action verbs and quantifiable results. Keep it under 25 words. Current: 'Did data analysis for reports.'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39312"/>
            <a:ext cx="4114800" cy="1261872"/>
          </a:xfrm>
          <a:prstGeom prst="rect">
            <a:avLst/>
          </a:prstGeom>
          <a:solidFill>
            <a:srgbClr val="FFF3F3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639312"/>
            <a:ext cx="73152" cy="1261872"/>
          </a:xfrm>
          <a:prstGeom prst="rect">
            <a:avLst/>
          </a:prstGeom>
          <a:solidFill>
            <a:srgbClr val="E85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6941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Bad — Study Planning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0233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a study plan.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3639312"/>
            <a:ext cx="4297680" cy="1261872"/>
          </a:xfrm>
          <a:prstGeom prst="rect">
            <a:avLst/>
          </a:prstGeom>
          <a:solidFill>
            <a:srgbClr val="F3FFF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0" y="3639312"/>
            <a:ext cx="73152" cy="126187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36941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Good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4023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7-day study plan for GATE 2026 (CS). I can study 3 hours/day on weekdays and 6 hours on weekends. Prioritize: DSA, OS, Networks. Format as a daily schedule.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51435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731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what you learned. Open your AI tool of choice!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651760"/>
            <a:ext cx="1371600" cy="3657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Exercise 1  ·  10 minutes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Online Grocery Prompt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595360" cy="86868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Your Task: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73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parents called and need help ordering groceries online. Write a TCEPFT prompt to help them get started.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724912"/>
            <a:ext cx="320040" cy="320040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2724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26974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ChatGPT, Gemini, or Claude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200400"/>
            <a:ext cx="320040" cy="320040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317296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prompt using TCEPFT: Task (order groceries), Context (elderly parent, specific store), Exemplar, Persona, Format, Tone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675888"/>
            <a:ext cx="320040" cy="320040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3675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364845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and evaluate: Is the output helpful? What's missing?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4151376"/>
            <a:ext cx="320040" cy="320040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41513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412394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once based on what you find — share your improvement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E2E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Tip: Start simple — even a basic prompt is better than none. Then add layers.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Exercise 2  ·  10 minutes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LinkedIn Content Plan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595360" cy="86868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Your Task: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73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to give you a 30-day content plan for LinkedIn (or your preferred social media) on a topic you care about.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724912"/>
            <a:ext cx="320040" cy="320040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2724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26974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topic: tech, finance, fitness, cooking, career advice, etc.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200400"/>
            <a:ext cx="320040" cy="320040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317296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ACE: Act (expert in your topic) + Constrain (30 days, platform, post length) + Enhance (tone that matches your voice)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675888"/>
            <a:ext cx="320040" cy="320040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3675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364845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TCEPFT layers: include an Exemplar format for the posts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4151376"/>
            <a:ext cx="320040" cy="320040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41513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412394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plan, then ask: 'Write post #1 for me in full'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E2E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Tip: Add your own context — the more specific you are, the more usable the output.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Exercise 3  ·  10 minutes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Startup Brainstorm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595360" cy="86868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Your Task: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73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 a startup idea with AI — or if you already have one, stress-test it.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724912"/>
            <a:ext cx="320040" cy="320040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2724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26974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have an idea: 'Act as a VC investor. Critique my startup idea: [describe it]. List 3 strengths and 3 weaknesses.'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200400"/>
            <a:ext cx="320040" cy="320040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317296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don't: 'Based on my background in [field], suggest 5 startup ideas solving real problems. Format as: Name, Problem, Target User, Revenue model.'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675888"/>
            <a:ext cx="320040" cy="320040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3675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364845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favourite idea and ask: 'What's the biggest risk for this startup and how would you mitigate it?'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4151376"/>
            <a:ext cx="320040" cy="320040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41513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412394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Ask it to write a 60-second elevator pitch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E2E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Tip: Use chain-of-thought: Ask AI to think step by step before giving you the final answer.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51435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731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Topics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prompts, debugging, and building your prompt library.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651760"/>
            <a:ext cx="1371600" cy="3657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Iterative Refinement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Prompt Errors: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5953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560320" cy="621792"/>
          </a:xfrm>
          <a:prstGeom prst="rect">
            <a:avLst/>
          </a:prstGeom>
          <a:solidFill>
            <a:srgbClr val="FF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Vague Instructions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71800" y="1170432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Fix: Add specifics: topic, audience, length, format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83664"/>
            <a:ext cx="85953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883664"/>
            <a:ext cx="2560320" cy="621792"/>
          </a:xfrm>
          <a:prstGeom prst="rect">
            <a:avLst/>
          </a:prstGeom>
          <a:solidFill>
            <a:srgbClr val="FF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88366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Conflicting Constraints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71800" y="1883664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Fix: Don't say 'very detailed' AND 'under 50 words'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596896"/>
            <a:ext cx="85953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596896"/>
            <a:ext cx="2560320" cy="621792"/>
          </a:xfrm>
          <a:prstGeom prst="rect">
            <a:avLst/>
          </a:prstGeom>
          <a:solidFill>
            <a:srgbClr val="FF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59689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Missing Context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71800" y="2596896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Fix: Always tell AI WHO you are and WHY you need 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310128"/>
            <a:ext cx="85953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310128"/>
            <a:ext cx="2560320" cy="621792"/>
          </a:xfrm>
          <a:prstGeom prst="rect">
            <a:avLst/>
          </a:prstGeom>
          <a:solidFill>
            <a:srgbClr val="FF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31012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Persona Set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71800" y="3310128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Fix: Use 'Act as…' to unlock domain-specific quality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133088"/>
            <a:ext cx="8595360" cy="749808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The Refinement Loop: Draft → Test → Identify Gap → Tweak One Variable → Repeat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Prompts &amp; Reusable Templates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prompts are saved, reusable system instructions that define how the AI behaves before your actual question.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859536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91440" cy="1115568"/>
          </a:xfrm>
          <a:prstGeom prst="rect">
            <a:avLst/>
          </a:prstGeom>
          <a:solidFill>
            <a:srgbClr val="14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350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 Template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848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Research, fact-checking, analysis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answering, search for current information, cross-verify with 2 sources, and flag any conflicting data. Always cite your reasoning. If uncertain, say so.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542032"/>
            <a:ext cx="859536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2542032"/>
            <a:ext cx="91440" cy="1115568"/>
          </a:xfrm>
          <a:prstGeom prst="rect">
            <a:avLst/>
          </a:prstGeom>
          <a:solidFill>
            <a:srgbClr val="14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5968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Content Generator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3467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Personal branding, content marketing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9077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as a LinkedIn content strategist. Write posts in first person, conversational style, with a hook opening line, 3 key insights, and a CTA question at end. Max 150 words.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803904"/>
            <a:ext cx="859536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803904"/>
            <a:ext cx="91440" cy="1115568"/>
          </a:xfrm>
          <a:prstGeom prst="rect">
            <a:avLst/>
          </a:prstGeom>
          <a:solidFill>
            <a:srgbClr val="14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858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Template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6085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Software development, code quality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16966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this code for: (1) bugs, (2) performance issues, (3) security risks, (4) readability. For each issue found, show the bad code and your improved version with explanation.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51435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731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 your learning between sessions. Takes 2–3 hours.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651760"/>
            <a:ext cx="1371600" cy="3657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Homework — Session 1: Gen AI &amp; Prompt Engineering  (2–3 hours)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at your own pace. Bring your outputs to the next session for review.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07008"/>
            <a:ext cx="8595360" cy="749808"/>
          </a:xfrm>
          <a:prstGeom prst="rect">
            <a:avLst/>
          </a:prstGeom>
          <a:solidFill>
            <a:srgbClr val="13203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435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 ·  ~45 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Prompt Library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0640" y="12984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5 reusable prompts for your daily work or studies. Test each one 3 times, refine, and save the best version.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057400"/>
            <a:ext cx="8595360" cy="749808"/>
          </a:xfrm>
          <a:prstGeom prst="rect">
            <a:avLst/>
          </a:prstGeom>
          <a:solidFill>
            <a:srgbClr val="13203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939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·  ~40 min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OpenAI API and/or Install </a:t>
            </a:r>
            <a:r>
              <a:rPr lang="en-US" sz="1400" b="1" dirty="0" err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locally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214884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OpenAI Python SDK. Write a script that sends a prompt, reads the response, and experiments with temperature (0.2 vs 1.2). Then try the same prompt in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locally in different models. Take a screenshot of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running locally.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907792"/>
            <a:ext cx="8595360" cy="749808"/>
          </a:xfrm>
          <a:prstGeom prst="rect">
            <a:avLst/>
          </a:prstGeom>
          <a:solidFill>
            <a:srgbClr val="13203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944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 ·  ~30 min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1821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Hugging Face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29992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huggingface.co/models. Document differences vs GPT-4o and any hugging face model.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758184"/>
            <a:ext cx="8595360" cy="749808"/>
          </a:xfrm>
          <a:prstGeom prst="rect">
            <a:avLst/>
          </a:prstGeom>
          <a:solidFill>
            <a:srgbClr val="13203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 ·  ~25 min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0325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TCEPFT Challenge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0640" y="384962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TCEPFT to 3 real-life tasks: one work task, one learning task, one creative task. Screenshot results and share in the group.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Deliverable: Create a folder by your name: Put the output of all Tasks under [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yourname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]/week1 folder. Due by Wednesday.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— Session 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777240"/>
            <a:ext cx="7863840" cy="594360"/>
          </a:xfrm>
          <a:prstGeom prst="rect">
            <a:avLst/>
          </a:prstGeom>
          <a:solidFill>
            <a:srgbClr val="0E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7772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creates new content from patterns — it doesn't look things up from a database.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52704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1481328"/>
            <a:ext cx="7863840" cy="594360"/>
          </a:xfrm>
          <a:prstGeom prst="rect">
            <a:avLst/>
          </a:prstGeom>
          <a:solidFill>
            <a:srgbClr val="0E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148132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prompt has role, context, constraints, format, and tone baked in.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23113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🔤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2185416"/>
            <a:ext cx="7863840" cy="594360"/>
          </a:xfrm>
          <a:prstGeom prst="rect">
            <a:avLst/>
          </a:prstGeom>
          <a:solidFill>
            <a:srgbClr val="0E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1560" y="2185416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TCEPFT as your structured formula for any important prompt.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293522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14400" y="2889504"/>
            <a:ext cx="7863840" cy="594360"/>
          </a:xfrm>
          <a:prstGeom prst="rect">
            <a:avLst/>
          </a:prstGeom>
          <a:solidFill>
            <a:srgbClr val="0E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51560" y="2889504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Iterate! The first prompt is a draft. Test, tweak, and improve.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" y="36393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14400" y="3593592"/>
            <a:ext cx="7863840" cy="594360"/>
          </a:xfrm>
          <a:prstGeom prst="rect">
            <a:avLst/>
          </a:prstGeom>
          <a:solidFill>
            <a:srgbClr val="0E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51560" y="3593592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prompts save time — build your personal prompt library.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4343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14400" y="4297680"/>
            <a:ext cx="7863840" cy="594360"/>
          </a:xfrm>
          <a:prstGeom prst="rect">
            <a:avLst/>
          </a:prstGeom>
          <a:solidFill>
            <a:srgbClr val="0E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51560" y="429768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AI outputs on important matters — hallucinations are real.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Complete — See you at Session 2!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2578608"/>
            <a:ext cx="2743200" cy="45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discuss!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linkedin.com/in/pallavrustogi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reminder: Build &amp; share your 3 best prompts before next session!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LessonPill"/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LessonText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spc="200" dirty="0">
                <a:solidFill>
                  <a:srgbClr val="A855F7"/>
                </a:solidFill>
                <a:latin typeface="Calibri"/>
              </a:rPr>
              <a:t>LESSON 06</a:t>
            </a:r>
          </a:p>
        </p:txBody>
      </p:sp>
      <p:sp>
        <p:nvSpPr>
          <p:cNvPr id="5" name="Title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/>
              </a:rPr>
              <a:t>Attention: The Core Innovation</a:t>
            </a:r>
          </a:p>
        </p:txBody>
      </p:sp>
      <p:sp>
        <p:nvSpPr>
          <p:cNvPr id="10" name="Card"/>
          <p:cNvSpPr/>
          <p:nvPr/>
        </p:nvSpPr>
        <p:spPr>
          <a:xfrm>
            <a:off x="457200" y="1143000"/>
            <a:ext cx="4480560" cy="1097280"/>
          </a:xfrm>
          <a:prstGeom prst="roundRect">
            <a:avLst>
              <a:gd name="adj" fmla="val 8000"/>
            </a:avLst>
          </a:prstGeom>
          <a:solidFill>
            <a:srgbClr val="1A1A30"/>
          </a:solidFill>
          <a:ln w="12700">
            <a:solidFill>
              <a:srgbClr val="2E2E5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CardAccent"/>
          <p:cNvSpPr/>
          <p:nvPr/>
        </p:nvSpPr>
        <p:spPr>
          <a:xfrm>
            <a:off x="457200" y="1173000"/>
            <a:ext cx="50000" cy="10372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/>
          <p:nvPr/>
        </p:nvSpPr>
        <p:spPr>
          <a:xfrm>
            <a:off x="577200" y="1143000"/>
            <a:ext cx="4320560" cy="10972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100" b="0" i="0" spc="0" dirty="0">
                <a:solidFill>
                  <a:srgbClr val="FFFFFF"/>
                </a:solidFill>
                <a:latin typeface="Calibri"/>
              </a:rPr>
              <a:t>Attention lets the model figure out which words are most relevant to understanding each other word. When processing any word, it 'attends to' the related words around it — simultaneously.</a:t>
            </a:r>
          </a:p>
        </p:txBody>
      </p:sp>
      <p:sp>
        <p:nvSpPr>
          <p:cNvPr id="13" name="Card"/>
          <p:cNvSpPr/>
          <p:nvPr/>
        </p:nvSpPr>
        <p:spPr>
          <a:xfrm>
            <a:off x="457200" y="2377440"/>
            <a:ext cx="4480560" cy="1280160"/>
          </a:xfrm>
          <a:prstGeom prst="roundRect">
            <a:avLst>
              <a:gd name="adj" fmla="val 8000"/>
            </a:avLst>
          </a:prstGeom>
          <a:solidFill>
            <a:srgbClr val="1A1A30"/>
          </a:solidFill>
          <a:ln w="12700">
            <a:solidFill>
              <a:srgbClr val="2E2E5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CardAccent"/>
          <p:cNvSpPr/>
          <p:nvPr/>
        </p:nvSpPr>
        <p:spPr>
          <a:xfrm>
            <a:off x="457200" y="2407440"/>
            <a:ext cx="50000" cy="122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"/>
          <p:cNvSpPr/>
          <p:nvPr/>
        </p:nvSpPr>
        <p:spPr>
          <a:xfrm>
            <a:off x="577200" y="2377440"/>
            <a:ext cx="4320560" cy="12801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100" b="1" i="0" spc="0" dirty="0">
                <a:solidFill>
                  <a:srgbClr val="F59E0B"/>
                </a:solidFill>
                <a:latin typeface="Calibri"/>
              </a:rPr>
              <a:t>Here is a simple example</a:t>
            </a:r>
          </a:p>
          <a:p>
            <a:pPr marL="0" indent="0" algn="l">
              <a:buNone/>
            </a:pPr>
            <a:r>
              <a:rPr lang="en-US" sz="600" b="0" i="0" spc="0" dirty="0">
                <a:solidFill>
                  <a:srgbClr val="C9C9D9"/>
                </a:solidFill>
                <a:latin typeface="Calibri"/>
              </a:rPr>
              <a:t> </a:t>
            </a:r>
          </a:p>
          <a:p>
            <a:pPr marL="0" indent="0" algn="l">
              <a:buNone/>
            </a:pPr>
            <a:r>
              <a:rPr lang="en-US" sz="1000" b="0" i="1" spc="0" dirty="0">
                <a:solidFill>
                  <a:srgbClr val="C9C9D9"/>
                </a:solidFill>
                <a:latin typeface="Calibri"/>
              </a:rPr>
              <a:t>"The bank was steep, so I grabbed a rock." When you see "bank," your brain checks — money or riverbank? It looks at nearby words ("steep," "rock") to decide. That's exactly what attention does.</a:t>
            </a:r>
          </a:p>
        </p:txBody>
      </p:sp>
      <p:sp>
        <p:nvSpPr>
          <p:cNvPr id="16" name="Card"/>
          <p:cNvSpPr/>
          <p:nvPr/>
        </p:nvSpPr>
        <p:spPr>
          <a:xfrm>
            <a:off x="457200" y="3794760"/>
            <a:ext cx="4480560" cy="868680"/>
          </a:xfrm>
          <a:prstGeom prst="roundRect">
            <a:avLst>
              <a:gd name="adj" fmla="val 8000"/>
            </a:avLst>
          </a:prstGeom>
          <a:solidFill>
            <a:srgbClr val="1A1A30"/>
          </a:solidFill>
          <a:ln w="12700">
            <a:solidFill>
              <a:srgbClr val="2E2E5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CardAccent"/>
          <p:cNvSpPr/>
          <p:nvPr/>
        </p:nvSpPr>
        <p:spPr>
          <a:xfrm>
            <a:off x="457200" y="3824760"/>
            <a:ext cx="50000" cy="80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"/>
          <p:cNvSpPr/>
          <p:nvPr/>
        </p:nvSpPr>
        <p:spPr>
          <a:xfrm>
            <a:off x="577200" y="3794760"/>
            <a:ext cx="4320560" cy="8686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100" b="1" i="0" spc="0" dirty="0">
                <a:solidFill>
                  <a:srgbClr val="3B82F6"/>
                </a:solidFill>
                <a:latin typeface="Calibri"/>
              </a:rPr>
              <a:t>Multi-Head Attention: not one kind — many kinds at once.</a:t>
            </a:r>
          </a:p>
          <a:p>
            <a:pPr marL="0" indent="0" algn="l">
              <a:buNone/>
            </a:pPr>
            <a:r>
              <a:rPr lang="en-US" sz="400" b="0" i="0" spc="0" dirty="0">
                <a:solidFill>
                  <a:srgbClr val="C9C9D9"/>
                </a:solidFill>
                <a:latin typeface="Calibri"/>
              </a:rPr>
              <a:t> </a:t>
            </a:r>
          </a:p>
          <a:p>
            <a:pPr marL="0" indent="0" algn="l">
              <a:buNone/>
            </a:pPr>
            <a:r>
              <a:rPr lang="en-US" sz="1000" b="0" i="0" spc="0" dirty="0">
                <a:solidFill>
                  <a:srgbClr val="C9C9D9"/>
                </a:solidFill>
                <a:latin typeface="Calibri"/>
              </a:rPr>
              <a:t>Different 'heads' track: word positions · grammar relationships · word meanings · coreference — all in parallel.</a:t>
            </a:r>
          </a:p>
        </p:txBody>
      </p:sp>
      <p:sp>
        <p:nvSpPr>
          <p:cNvPr id="30" name="Card"/>
          <p:cNvSpPr/>
          <p:nvPr/>
        </p:nvSpPr>
        <p:spPr>
          <a:xfrm>
            <a:off x="5120640" y="1143000"/>
            <a:ext cx="3566160" cy="822960"/>
          </a:xfrm>
          <a:prstGeom prst="roundRect">
            <a:avLst>
              <a:gd name="adj" fmla="val 8000"/>
            </a:avLst>
          </a:prstGeom>
          <a:solidFill>
            <a:srgbClr val="1A1A30"/>
          </a:solidFill>
          <a:ln w="12700">
            <a:solidFill>
              <a:srgbClr val="2E2E5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Dot"/>
          <p:cNvSpPr/>
          <p:nvPr/>
        </p:nvSpPr>
        <p:spPr>
          <a:xfrm>
            <a:off x="5303520" y="1417320"/>
            <a:ext cx="274320" cy="2743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"/>
          <p:cNvSpPr/>
          <p:nvPr/>
        </p:nvSpPr>
        <p:spPr>
          <a:xfrm>
            <a:off x="5715000" y="1234440"/>
            <a:ext cx="292608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400" b="1" i="0" spc="0" dirty="0">
                <a:solidFill>
                  <a:srgbClr val="EC4899"/>
                </a:solidFill>
                <a:latin typeface="Calibri"/>
              </a:rPr>
              <a:t>Positional</a:t>
            </a:r>
          </a:p>
          <a:p>
            <a:pPr marL="0" indent="0" algn="l">
              <a:buNone/>
            </a:pPr>
            <a:r>
              <a:rPr lang="en-US" sz="1000" b="0" i="0" spc="0" dirty="0">
                <a:solidFill>
                  <a:srgbClr val="C9C9D9"/>
                </a:solidFill>
                <a:latin typeface="Calibri"/>
              </a:rPr>
              <a:t>Where is each word in the sentence?</a:t>
            </a:r>
          </a:p>
        </p:txBody>
      </p:sp>
      <p:sp>
        <p:nvSpPr>
          <p:cNvPr id="34" name="Card"/>
          <p:cNvSpPr/>
          <p:nvPr/>
        </p:nvSpPr>
        <p:spPr>
          <a:xfrm>
            <a:off x="5120640" y="2065020"/>
            <a:ext cx="3566160" cy="822960"/>
          </a:xfrm>
          <a:prstGeom prst="roundRect">
            <a:avLst>
              <a:gd name="adj" fmla="val 8000"/>
            </a:avLst>
          </a:prstGeom>
          <a:solidFill>
            <a:srgbClr val="1A1A30"/>
          </a:solidFill>
          <a:ln w="12700">
            <a:solidFill>
              <a:srgbClr val="2E2E5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Dot"/>
          <p:cNvSpPr/>
          <p:nvPr/>
        </p:nvSpPr>
        <p:spPr>
          <a:xfrm>
            <a:off x="5303520" y="2339340"/>
            <a:ext cx="274320" cy="274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"/>
          <p:cNvSpPr/>
          <p:nvPr/>
        </p:nvSpPr>
        <p:spPr>
          <a:xfrm>
            <a:off x="5715000" y="2156460"/>
            <a:ext cx="292608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400" b="1" i="0" spc="0" dirty="0">
                <a:solidFill>
                  <a:srgbClr val="A855F7"/>
                </a:solidFill>
                <a:latin typeface="Calibri"/>
              </a:rPr>
              <a:t>Semantic</a:t>
            </a:r>
          </a:p>
          <a:p>
            <a:pPr marL="0" indent="0" algn="l">
              <a:buNone/>
            </a:pPr>
            <a:r>
              <a:rPr lang="en-US" sz="1000" b="0" i="0" spc="0" dirty="0">
                <a:solidFill>
                  <a:srgbClr val="C9C9D9"/>
                </a:solidFill>
                <a:latin typeface="Calibri"/>
              </a:rPr>
              <a:t>What do words mean together?</a:t>
            </a:r>
          </a:p>
        </p:txBody>
      </p:sp>
      <p:sp>
        <p:nvSpPr>
          <p:cNvPr id="38" name="Card"/>
          <p:cNvSpPr/>
          <p:nvPr/>
        </p:nvSpPr>
        <p:spPr>
          <a:xfrm>
            <a:off x="5120640" y="2987040"/>
            <a:ext cx="3566160" cy="822960"/>
          </a:xfrm>
          <a:prstGeom prst="roundRect">
            <a:avLst>
              <a:gd name="adj" fmla="val 8000"/>
            </a:avLst>
          </a:prstGeom>
          <a:solidFill>
            <a:srgbClr val="1A1A30"/>
          </a:solidFill>
          <a:ln w="12700">
            <a:solidFill>
              <a:srgbClr val="2E2E5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Dot"/>
          <p:cNvSpPr/>
          <p:nvPr/>
        </p:nvSpPr>
        <p:spPr>
          <a:xfrm>
            <a:off x="5303520" y="3261360"/>
            <a:ext cx="274320" cy="2743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"/>
          <p:cNvSpPr/>
          <p:nvPr/>
        </p:nvSpPr>
        <p:spPr>
          <a:xfrm>
            <a:off x="5715000" y="3078480"/>
            <a:ext cx="292608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400" b="1" i="0" spc="0" dirty="0">
                <a:solidFill>
                  <a:srgbClr val="3B82F6"/>
                </a:solidFill>
                <a:latin typeface="Calibri"/>
              </a:rPr>
              <a:t>Syntactic</a:t>
            </a:r>
          </a:p>
          <a:p>
            <a:pPr marL="0" indent="0" algn="l">
              <a:buNone/>
            </a:pPr>
            <a:r>
              <a:rPr lang="en-US" sz="1000" b="0" i="0" spc="0" dirty="0">
                <a:solidFill>
                  <a:srgbClr val="C9C9D9"/>
                </a:solidFill>
                <a:latin typeface="Calibri"/>
              </a:rPr>
              <a:t>Grammar &amp; language structure</a:t>
            </a:r>
          </a:p>
        </p:txBody>
      </p:sp>
      <p:sp>
        <p:nvSpPr>
          <p:cNvPr id="42" name="Card"/>
          <p:cNvSpPr/>
          <p:nvPr/>
        </p:nvSpPr>
        <p:spPr>
          <a:xfrm>
            <a:off x="5120640" y="3909060"/>
            <a:ext cx="3566160" cy="822960"/>
          </a:xfrm>
          <a:prstGeom prst="roundRect">
            <a:avLst>
              <a:gd name="adj" fmla="val 8000"/>
            </a:avLst>
          </a:prstGeom>
          <a:solidFill>
            <a:srgbClr val="1A1A30"/>
          </a:solidFill>
          <a:ln w="12700">
            <a:solidFill>
              <a:srgbClr val="2E2E5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Dot"/>
          <p:cNvSpPr/>
          <p:nvPr/>
        </p:nvSpPr>
        <p:spPr>
          <a:xfrm>
            <a:off x="5303520" y="418338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"/>
          <p:cNvSpPr/>
          <p:nvPr/>
        </p:nvSpPr>
        <p:spPr>
          <a:xfrm>
            <a:off x="5715000" y="4000500"/>
            <a:ext cx="292608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400" b="1" i="0" spc="0" dirty="0">
                <a:solidFill>
                  <a:srgbClr val="10B981"/>
                </a:solidFill>
                <a:latin typeface="Calibri"/>
              </a:rPr>
              <a:t>Long-Range</a:t>
            </a:r>
          </a:p>
          <a:p>
            <a:pPr marL="0" indent="0" algn="l">
              <a:buNone/>
            </a:pPr>
            <a:r>
              <a:rPr lang="en-US" sz="1000" b="0" i="0" spc="0" dirty="0">
                <a:solidFill>
                  <a:srgbClr val="C9C9D9"/>
                </a:solidFill>
                <a:latin typeface="Calibri"/>
              </a:rPr>
              <a:t>Connect ideas paragraphs apart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LessonPill"/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LessonText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spc="200" dirty="0">
                <a:solidFill>
                  <a:srgbClr val="A855F7"/>
                </a:solidFill>
                <a:latin typeface="Calibri"/>
              </a:rPr>
              <a:t>LESSON 06</a:t>
            </a:r>
          </a:p>
        </p:txBody>
      </p:sp>
      <p:sp>
        <p:nvSpPr>
          <p:cNvPr id="5" name="Title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/>
              </a:rPr>
              <a:t>Contextual Embedding</a:t>
            </a:r>
          </a:p>
        </p:txBody>
      </p:sp>
      <p:sp>
        <p:nvSpPr>
          <p:cNvPr id="10" name="Card"/>
          <p:cNvSpPr/>
          <p:nvPr/>
        </p:nvSpPr>
        <p:spPr>
          <a:xfrm>
            <a:off x="457200" y="114300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1A1A30"/>
          </a:solidFill>
          <a:ln w="12700">
            <a:solidFill>
              <a:srgbClr val="2E2E5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CardAccent"/>
          <p:cNvSpPr/>
          <p:nvPr/>
        </p:nvSpPr>
        <p:spPr>
          <a:xfrm>
            <a:off x="457200" y="1173000"/>
            <a:ext cx="50000" cy="625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/>
          <p:nvPr/>
        </p:nvSpPr>
        <p:spPr>
          <a:xfrm>
            <a:off x="587200" y="1143000"/>
            <a:ext cx="7969600" cy="6858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100" b="0" i="0" spc="0" dirty="0">
                <a:solidFill>
                  <a:srgbClr val="FFFFFF"/>
                </a:solidFill>
                <a:latin typeface="Calibri"/>
              </a:rPr>
              <a:t>Same word, different meanings. Embeddings shift in vector space depending on the words around them.</a:t>
            </a:r>
          </a:p>
        </p:txBody>
      </p:sp>
      <p:sp>
        <p:nvSpPr>
          <p:cNvPr id="14" name="Card"/>
          <p:cNvSpPr/>
          <p:nvPr/>
        </p:nvSpPr>
        <p:spPr>
          <a:xfrm>
            <a:off x="1257300" y="2057400"/>
            <a:ext cx="6629400" cy="2743200"/>
          </a:xfrm>
          <a:prstGeom prst="roundRect">
            <a:avLst>
              <a:gd name="adj" fmla="val 8000"/>
            </a:avLst>
          </a:prstGeom>
          <a:solidFill>
            <a:srgbClr val="13132A"/>
          </a:solidFill>
          <a:ln w="12700">
            <a:solidFill>
              <a:srgbClr val="2E2E55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20" name="Line"/>
          <p:cNvCxnSpPr/>
          <p:nvPr/>
        </p:nvCxnSpPr>
        <p:spPr>
          <a:xfrm flipH="0" flipV="1">
            <a:off x="1943100" y="4251960"/>
            <a:ext cx="4572000" cy="228600"/>
          </a:xfrm>
          <a:prstGeom prst="line">
            <a:avLst/>
          </a:prstGeom>
          <a:ln w="12700">
            <a:solidFill>
              <a:srgbClr val="8A8AA8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Line"/>
          <p:cNvCxnSpPr/>
          <p:nvPr/>
        </p:nvCxnSpPr>
        <p:spPr>
          <a:xfrm flipH="0" flipV="1">
            <a:off x="1943100" y="2194560"/>
            <a:ext cx="1188720" cy="2286000"/>
          </a:xfrm>
          <a:prstGeom prst="line">
            <a:avLst/>
          </a:prstGeom>
          <a:ln w="12700">
            <a:solidFill>
              <a:srgbClr val="8A8AA8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Line"/>
          <p:cNvCxnSpPr/>
          <p:nvPr/>
        </p:nvCxnSpPr>
        <p:spPr>
          <a:xfrm flipH="0" flipV="1">
            <a:off x="1943100" y="2651760"/>
            <a:ext cx="3429000" cy="1828800"/>
          </a:xfrm>
          <a:prstGeom prst="line">
            <a:avLst/>
          </a:prstGeom>
          <a:ln w="12700">
            <a:solidFill>
              <a:srgbClr val="8A8AA8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t"/>
          <p:cNvSpPr/>
          <p:nvPr/>
        </p:nvSpPr>
        <p:spPr>
          <a:xfrm>
            <a:off x="3520440" y="3954780"/>
            <a:ext cx="137160" cy="137160"/>
          </a:xfrm>
          <a:prstGeom prst="ellipse">
            <a:avLst/>
          </a:prstGeom>
          <a:solidFill>
            <a:srgbClr val="EAB308"/>
          </a:solidFill>
          <a:ln w="9525">
            <a:solidFill>
              <a:srgbClr val="FBBF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"/>
          <p:cNvSpPr/>
          <p:nvPr/>
        </p:nvSpPr>
        <p:spPr>
          <a:xfrm>
            <a:off x="372618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0" spc="0" dirty="0">
                <a:solidFill>
                  <a:srgbClr val="10B981"/>
                </a:solidFill>
                <a:latin typeface="Calibri"/>
              </a:rPr>
              <a:t>Indian rice dish</a:t>
            </a:r>
          </a:p>
        </p:txBody>
      </p:sp>
      <p:sp>
        <p:nvSpPr>
          <p:cNvPr id="27" name="Pt"/>
          <p:cNvSpPr/>
          <p:nvPr/>
        </p:nvSpPr>
        <p:spPr>
          <a:xfrm>
            <a:off x="4572000" y="3314700"/>
            <a:ext cx="137160" cy="137160"/>
          </a:xfrm>
          <a:prstGeom prst="ellipse">
            <a:avLst/>
          </a:prstGeom>
          <a:solidFill>
            <a:srgbClr val="EAB308"/>
          </a:solidFill>
          <a:ln w="9525">
            <a:solidFill>
              <a:srgbClr val="FBBF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"/>
          <p:cNvSpPr/>
          <p:nvPr/>
        </p:nvSpPr>
        <p:spPr>
          <a:xfrm>
            <a:off x="477774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0" spc="0" dirty="0">
                <a:solidFill>
                  <a:srgbClr val="10B981"/>
                </a:solidFill>
                <a:latin typeface="Calibri"/>
              </a:rPr>
              <a:t>rice dish</a:t>
            </a:r>
          </a:p>
        </p:txBody>
      </p:sp>
      <p:sp>
        <p:nvSpPr>
          <p:cNvPr id="29" name="Pt"/>
          <p:cNvSpPr/>
          <p:nvPr/>
        </p:nvSpPr>
        <p:spPr>
          <a:xfrm>
            <a:off x="5074920" y="2583180"/>
            <a:ext cx="137160" cy="137160"/>
          </a:xfrm>
          <a:prstGeom prst="ellipse">
            <a:avLst/>
          </a:prstGeom>
          <a:solidFill>
            <a:srgbClr val="EAB308"/>
          </a:solidFill>
          <a:ln w="9525">
            <a:solidFill>
              <a:srgbClr val="FBBF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"/>
          <p:cNvSpPr/>
          <p:nvPr/>
        </p:nvSpPr>
        <p:spPr>
          <a:xfrm>
            <a:off x="528066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0" spc="0" dirty="0">
                <a:solidFill>
                  <a:srgbClr val="14B8A6"/>
                </a:solidFill>
                <a:latin typeface="Calibri"/>
              </a:rPr>
              <a:t>dish</a:t>
            </a:r>
          </a:p>
        </p:txBody>
      </p:sp>
      <p:cxnSp>
        <p:nvCxnSpPr>
          <p:cNvPr id="31" name="Arrow"/>
          <p:cNvCxnSpPr/>
          <p:nvPr/>
        </p:nvCxnSpPr>
        <p:spPr>
          <a:xfrm flipH="0" flipV="1">
            <a:off x="3589020" y="3383280"/>
            <a:ext cx="1051560" cy="640080"/>
          </a:xfrm>
          <a:prstGeom prst="line">
            <a:avLst/>
          </a:prstGeom>
          <a:ln w="9525">
            <a:solidFill>
              <a:srgbClr val="C9C9D9"/>
            </a:solidFill>
            <a:prstDash val="dash"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Arrow"/>
          <p:cNvCxnSpPr/>
          <p:nvPr/>
        </p:nvCxnSpPr>
        <p:spPr>
          <a:xfrm flipH="0" flipV="1">
            <a:off x="4640580" y="2651760"/>
            <a:ext cx="502920" cy="731520"/>
          </a:xfrm>
          <a:prstGeom prst="line">
            <a:avLst/>
          </a:prstGeom>
          <a:ln w="9525">
            <a:solidFill>
              <a:srgbClr val="C9C9D9"/>
            </a:solidFill>
            <a:prstDash val="dash"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"/>
          <p:cNvSpPr/>
          <p:nvPr/>
        </p:nvSpPr>
        <p:spPr>
          <a:xfrm>
            <a:off x="1714500" y="20802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0" i="1" spc="0" dirty="0">
                <a:solidFill>
                  <a:srgbClr val="8A8AA8"/>
                </a:solidFill>
                <a:latin typeface="Calibri"/>
              </a:rPr>
              <a:t>dish-ness</a:t>
            </a:r>
          </a:p>
        </p:txBody>
      </p:sp>
      <p:sp>
        <p:nvSpPr>
          <p:cNvPr id="34" name="Text"/>
          <p:cNvSpPr/>
          <p:nvPr/>
        </p:nvSpPr>
        <p:spPr>
          <a:xfrm>
            <a:off x="2400300" y="2834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0" i="1" spc="0" dirty="0">
                <a:solidFill>
                  <a:srgbClr val="F59E0B"/>
                </a:solidFill>
                <a:latin typeface="Calibri"/>
              </a:rPr>
              <a:t>rice-ness</a:t>
            </a:r>
          </a:p>
        </p:txBody>
      </p:sp>
      <p:sp>
        <p:nvSpPr>
          <p:cNvPr id="35" name="Text"/>
          <p:cNvSpPr/>
          <p:nvPr/>
        </p:nvSpPr>
        <p:spPr>
          <a:xfrm>
            <a:off x="2628900" y="4114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0" i="1" spc="0" dirty="0">
                <a:solidFill>
                  <a:srgbClr val="F59E0B"/>
                </a:solidFill>
                <a:latin typeface="Calibri"/>
              </a:rPr>
              <a:t>Indian-ness</a:t>
            </a:r>
          </a:p>
        </p:txBody>
      </p:sp>
      <p:sp>
        <p:nvSpPr>
          <p:cNvPr id="36" name="Card"/>
          <p:cNvSpPr/>
          <p:nvPr/>
        </p:nvSpPr>
        <p:spPr>
          <a:xfrm>
            <a:off x="6789420" y="2423160"/>
            <a:ext cx="822960" cy="1645920"/>
          </a:xfrm>
          <a:prstGeom prst="roundRect">
            <a:avLst>
              <a:gd name="adj" fmla="val 8000"/>
            </a:avLst>
          </a:prstGeom>
          <a:solidFill>
            <a:srgbClr val="0D0D1A"/>
          </a:solidFill>
          <a:ln w="15875">
            <a:solidFill>
              <a:srgbClr val="10B98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"/>
          <p:cNvSpPr/>
          <p:nvPr/>
        </p:nvSpPr>
        <p:spPr>
          <a:xfrm>
            <a:off x="6789420" y="2423160"/>
            <a:ext cx="822960" cy="16459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000" b="0" i="0" spc="0" dirty="0">
                <a:solidFill>
                  <a:srgbClr val="FFFFFF"/>
                </a:solidFill>
                <a:latin typeface="Calibri"/>
              </a:rPr>
              <a:t>1.09</a:t>
            </a:r>
          </a:p>
          <a:p>
            <a:pPr marL="0" indent="0" algn="ctr">
              <a:buNone/>
            </a:pPr>
            <a:r>
              <a:rPr lang="en-US" sz="1000" b="0" i="0" spc="0" dirty="0">
                <a:solidFill>
                  <a:srgbClr val="FFFFFF"/>
                </a:solidFill>
                <a:latin typeface="Calibri"/>
              </a:rPr>
              <a:t>-0.72</a:t>
            </a:r>
          </a:p>
          <a:p>
            <a:pPr marL="0" indent="0" algn="ctr">
              <a:buNone/>
            </a:pPr>
            <a:r>
              <a:rPr lang="en-US" sz="1000" b="0" i="0" spc="0" dirty="0">
                <a:solidFill>
                  <a:srgbClr val="FFFFFF"/>
                </a:solidFill>
                <a:latin typeface="Calibri"/>
              </a:rPr>
              <a:t>0.66</a:t>
            </a:r>
          </a:p>
          <a:p>
            <a:pPr marL="0" indent="0" algn="ctr">
              <a:buNone/>
            </a:pPr>
            <a:r>
              <a:rPr lang="en-US" sz="1000" b="0" i="0" spc="0" dirty="0">
                <a:solidFill>
                  <a:srgbClr val="8A8AA8"/>
                </a:solidFill>
                <a:latin typeface="Calibri"/>
              </a:rPr>
              <a:t>...</a:t>
            </a:r>
          </a:p>
          <a:p>
            <a:pPr marL="0" indent="0" algn="ctr">
              <a:buNone/>
            </a:pPr>
            <a:r>
              <a:rPr lang="en-US" sz="1000" b="0" i="0" spc="0" dirty="0">
                <a:solidFill>
                  <a:srgbClr val="FFFFFF"/>
                </a:solidFill>
                <a:latin typeface="Calibri"/>
              </a:rPr>
              <a:t>-0.8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LessonPill"/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LessonText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spc="200" dirty="0">
                <a:solidFill>
                  <a:srgbClr val="A855F7"/>
                </a:solidFill>
                <a:latin typeface="Calibri"/>
              </a:rPr>
              <a:t>LESSON 06</a:t>
            </a:r>
          </a:p>
        </p:txBody>
      </p:sp>
      <p:sp>
        <p:nvSpPr>
          <p:cNvPr id="5" name="Title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/>
              </a:rPr>
              <a:t>Contextual Embedding (cont.)</a:t>
            </a:r>
          </a:p>
        </p:txBody>
      </p:sp>
      <p:sp>
        <p:nvSpPr>
          <p:cNvPr id="10" name="Text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 algn="ctr">
              <a:buNone/>
            </a:pPr>
            <a:r>
              <a:rPr lang="en-US" sz="1500" b="1" i="0" spc="0" dirty="0">
                <a:solidFill>
                  <a:srgbClr val="FFFFFF"/>
                </a:solidFill>
                <a:latin typeface="Calibri"/>
              </a:rPr>
              <a:t>I made a </a:t>
            </a:r>
            <a:r>
              <a:rPr lang="en-US" sz="1500" b="1" i="0" spc="0" dirty="0">
                <a:solidFill>
                  <a:srgbClr val="F59E0B"/>
                </a:solidFill>
                <a:latin typeface="Calibri"/>
              </a:rPr>
              <a:t>sweet </a:t>
            </a:r>
            <a:r>
              <a:rPr lang="en-US" sz="1500" b="1" i="0" spc="0" dirty="0">
                <a:solidFill>
                  <a:srgbClr val="F59E0B"/>
                </a:solidFill>
                <a:latin typeface="Calibri"/>
              </a:rPr>
              <a:t>Indian rice dish </a:t>
            </a:r>
            <a:r>
              <a:rPr lang="en-US" sz="1500" b="1" i="0" spc="0" dirty="0">
                <a:solidFill>
                  <a:srgbClr val="FFFFFF"/>
                </a:solidFill>
                <a:latin typeface="Calibri"/>
              </a:rPr>
              <a:t>called </a:t>
            </a:r>
            <a:r>
              <a:rPr lang="en-US" sz="1500" b="1" i="0" spc="0" dirty="0">
                <a:solidFill>
                  <a:srgbClr val="F59E0B"/>
                </a:solidFill>
                <a:latin typeface="Calibri"/>
              </a:rPr>
              <a:t>kheer</a:t>
            </a:r>
          </a:p>
        </p:txBody>
      </p:sp>
      <p:sp>
        <p:nvSpPr>
          <p:cNvPr id="11" name="Card"/>
          <p:cNvSpPr/>
          <p:nvPr/>
        </p:nvSpPr>
        <p:spPr>
          <a:xfrm>
            <a:off x="868680" y="1737360"/>
            <a:ext cx="1188720" cy="27432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9525">
            <a:solidFill>
              <a:srgbClr val="2E2E5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/>
          <p:nvPr/>
        </p:nvSpPr>
        <p:spPr>
          <a:xfrm>
            <a:off x="86868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spc="0" dirty="0">
                <a:solidFill>
                  <a:srgbClr val="FFFFFF"/>
                </a:solidFill>
                <a:latin typeface="Calibri"/>
              </a:rPr>
              <a:t>dish</a:t>
            </a:r>
          </a:p>
        </p:txBody>
      </p:sp>
      <p:sp>
        <p:nvSpPr>
          <p:cNvPr id="13" name="Card"/>
          <p:cNvSpPr/>
          <p:nvPr/>
        </p:nvSpPr>
        <p:spPr>
          <a:xfrm>
            <a:off x="868680" y="2103120"/>
            <a:ext cx="1188720" cy="1828800"/>
          </a:xfrm>
          <a:prstGeom prst="roundRect">
            <a:avLst>
              <a:gd name="adj" fmla="val 8000"/>
            </a:avLst>
          </a:prstGeom>
          <a:solidFill>
            <a:srgbClr val="0D0D1A"/>
          </a:solidFill>
          <a:ln w="15875">
            <a:solidFill>
              <a:srgbClr val="A855F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"/>
          <p:cNvSpPr/>
          <p:nvPr/>
        </p:nvSpPr>
        <p:spPr>
          <a:xfrm>
            <a:off x="868680" y="2103120"/>
            <a:ext cx="1188720" cy="18288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300" b="0" i="0" spc="0" dirty="0">
                <a:solidFill>
                  <a:srgbClr val="FFFFFF"/>
                </a:solidFill>
                <a:latin typeface="Calibri"/>
              </a:rPr>
              <a:t>1.09</a:t>
            </a:r>
          </a:p>
          <a:p>
            <a:pPr marL="0" indent="0" algn="ctr">
              <a:buNone/>
            </a:pPr>
            <a:r>
              <a:rPr lang="en-US" sz="1300" b="0" i="0" spc="0" dirty="0">
                <a:solidFill>
                  <a:srgbClr val="FFFFFF"/>
                </a:solidFill>
                <a:latin typeface="Calibri"/>
              </a:rPr>
              <a:t>-0.72</a:t>
            </a:r>
          </a:p>
          <a:p>
            <a:pPr marL="0" indent="0" algn="ctr">
              <a:buNone/>
            </a:pPr>
            <a:r>
              <a:rPr lang="en-US" sz="1300" b="0" i="0" spc="0" dirty="0">
                <a:solidFill>
                  <a:srgbClr val="FFFFFF"/>
                </a:solidFill>
                <a:latin typeface="Calibri"/>
              </a:rPr>
              <a:t>0.66</a:t>
            </a:r>
          </a:p>
          <a:p>
            <a:pPr marL="0" indent="0" algn="ctr">
              <a:buNone/>
            </a:pPr>
            <a:r>
              <a:rPr lang="en-US" sz="1300" b="0" i="0" spc="0" dirty="0">
                <a:solidFill>
                  <a:srgbClr val="FFFFFF"/>
                </a:solidFill>
                <a:latin typeface="Calibri"/>
              </a:rPr>
              <a:t>...</a:t>
            </a:r>
          </a:p>
          <a:p>
            <a:pPr marL="0" indent="0" algn="ctr">
              <a:buNone/>
            </a:pPr>
            <a:r>
              <a:rPr lang="en-US" sz="1300" b="0" i="0" spc="0" dirty="0">
                <a:solidFill>
                  <a:srgbClr val="FFFFFF"/>
                </a:solidFill>
                <a:latin typeface="Calibri"/>
              </a:rPr>
              <a:t>-0.8</a:t>
            </a:r>
          </a:p>
        </p:txBody>
      </p:sp>
      <p:sp>
        <p:nvSpPr>
          <p:cNvPr id="15" name="Text"/>
          <p:cNvSpPr/>
          <p:nvPr/>
        </p:nvSpPr>
        <p:spPr>
          <a:xfrm>
            <a:off x="2057400" y="2103120"/>
            <a:ext cx="365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0" spc="0" dirty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6" name="Card"/>
          <p:cNvSpPr/>
          <p:nvPr/>
        </p:nvSpPr>
        <p:spPr>
          <a:xfrm>
            <a:off x="2423160" y="1737360"/>
            <a:ext cx="1188720" cy="27432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9525">
            <a:solidFill>
              <a:srgbClr val="2E2E5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"/>
          <p:cNvSpPr/>
          <p:nvPr/>
        </p:nvSpPr>
        <p:spPr>
          <a:xfrm>
            <a:off x="242316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spc="0" dirty="0">
                <a:solidFill>
                  <a:srgbClr val="F59E0B"/>
                </a:solidFill>
                <a:latin typeface="Calibri"/>
              </a:rPr>
              <a:t>rice ness</a:t>
            </a:r>
          </a:p>
        </p:txBody>
      </p:sp>
      <p:sp>
        <p:nvSpPr>
          <p:cNvPr id="18" name="Card"/>
          <p:cNvSpPr/>
          <p:nvPr/>
        </p:nvSpPr>
        <p:spPr>
          <a:xfrm>
            <a:off x="2423160" y="2103120"/>
            <a:ext cx="1188720" cy="1828800"/>
          </a:xfrm>
          <a:prstGeom prst="roundRect">
            <a:avLst>
              <a:gd name="adj" fmla="val 8000"/>
            </a:avLst>
          </a:prstGeom>
          <a:solidFill>
            <a:srgbClr val="0D0D1A"/>
          </a:solidFill>
          <a:ln w="15875">
            <a:solidFill>
              <a:srgbClr val="A855F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"/>
          <p:cNvSpPr/>
          <p:nvPr/>
        </p:nvSpPr>
        <p:spPr>
          <a:xfrm>
            <a:off x="2423160" y="2103120"/>
            <a:ext cx="1188720" cy="18288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300" b="0" i="0" spc="0" dirty="0">
                <a:solidFill>
                  <a:srgbClr val="FFFFFF"/>
                </a:solidFill>
                <a:latin typeface="Calibri"/>
              </a:rPr>
              <a:t>-0.43</a:t>
            </a:r>
          </a:p>
          <a:p>
            <a:pPr marL="0" indent="0" algn="ctr">
              <a:buNone/>
            </a:pPr>
            <a:r>
              <a:rPr lang="en-US" sz="1300" b="0" i="0" spc="0" dirty="0">
                <a:solidFill>
                  <a:srgbClr val="FFFFFF"/>
                </a:solidFill>
                <a:latin typeface="Calibri"/>
              </a:rPr>
              <a:t>0.91</a:t>
            </a:r>
          </a:p>
          <a:p>
            <a:pPr marL="0" indent="0" algn="ctr">
              <a:buNone/>
            </a:pPr>
            <a:r>
              <a:rPr lang="en-US" sz="1300" b="0" i="0" spc="0" dirty="0">
                <a:solidFill>
                  <a:srgbClr val="FFFFFF"/>
                </a:solidFill>
                <a:latin typeface="Calibri"/>
              </a:rPr>
              <a:t>0.18</a:t>
            </a:r>
          </a:p>
          <a:p>
            <a:pPr marL="0" indent="0" algn="ctr">
              <a:buNone/>
            </a:pPr>
            <a:r>
              <a:rPr lang="en-US" sz="1300" b="0" i="0" spc="0" dirty="0">
                <a:solidFill>
                  <a:srgbClr val="FFFFFF"/>
                </a:solidFill>
                <a:latin typeface="Calibri"/>
              </a:rPr>
              <a:t>...</a:t>
            </a:r>
          </a:p>
          <a:p>
            <a:pPr marL="0" indent="0" algn="ctr">
              <a:buNone/>
            </a:pPr>
            <a:r>
              <a:rPr lang="en-US" sz="1300" b="0" i="0" spc="0" dirty="0">
                <a:solidFill>
                  <a:srgbClr val="FFFFFF"/>
                </a:solidFill>
                <a:latin typeface="Calibri"/>
              </a:rPr>
              <a:t>-0.75</a:t>
            </a:r>
          </a:p>
        </p:txBody>
      </p:sp>
      <p:sp>
        <p:nvSpPr>
          <p:cNvPr id="20" name="Text"/>
          <p:cNvSpPr/>
          <p:nvPr/>
        </p:nvSpPr>
        <p:spPr>
          <a:xfrm>
            <a:off x="3611880" y="2103120"/>
            <a:ext cx="365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0" spc="0" dirty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1" name="Card"/>
          <p:cNvSpPr/>
          <p:nvPr/>
        </p:nvSpPr>
        <p:spPr>
          <a:xfrm>
            <a:off x="3977640" y="1737360"/>
            <a:ext cx="1188720" cy="27432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9525">
            <a:solidFill>
              <a:srgbClr val="2E2E5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"/>
          <p:cNvSpPr/>
          <p:nvPr/>
        </p:nvSpPr>
        <p:spPr>
          <a:xfrm>
            <a:off x="397764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spc="0" dirty="0">
                <a:solidFill>
                  <a:srgbClr val="F59E0B"/>
                </a:solidFill>
                <a:latin typeface="Calibri"/>
              </a:rPr>
              <a:t>indian ness</a:t>
            </a:r>
          </a:p>
        </p:txBody>
      </p:sp>
      <p:sp>
        <p:nvSpPr>
          <p:cNvPr id="23" name="Card"/>
          <p:cNvSpPr/>
          <p:nvPr/>
        </p:nvSpPr>
        <p:spPr>
          <a:xfrm>
            <a:off x="3977640" y="2103120"/>
            <a:ext cx="1188720" cy="1828800"/>
          </a:xfrm>
          <a:prstGeom prst="roundRect">
            <a:avLst>
              <a:gd name="adj" fmla="val 8000"/>
            </a:avLst>
          </a:prstGeom>
          <a:solidFill>
            <a:srgbClr val="0D0D1A"/>
          </a:solidFill>
          <a:ln w="15875">
            <a:solidFill>
              <a:srgbClr val="A855F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"/>
          <p:cNvSpPr/>
          <p:nvPr/>
        </p:nvSpPr>
        <p:spPr>
          <a:xfrm>
            <a:off x="3977640" y="2103120"/>
            <a:ext cx="1188720" cy="18288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300" b="0" i="0" spc="0" dirty="0">
                <a:solidFill>
                  <a:srgbClr val="FFFFFF"/>
                </a:solidFill>
                <a:latin typeface="Calibri"/>
              </a:rPr>
              <a:t>0.29</a:t>
            </a:r>
          </a:p>
          <a:p>
            <a:pPr marL="0" indent="0" algn="ctr">
              <a:buNone/>
            </a:pPr>
            <a:r>
              <a:rPr lang="en-US" sz="1300" b="0" i="0" spc="0" dirty="0">
                <a:solidFill>
                  <a:srgbClr val="FFFFFF"/>
                </a:solidFill>
                <a:latin typeface="Calibri"/>
              </a:rPr>
              <a:t>0.67</a:t>
            </a:r>
          </a:p>
          <a:p>
            <a:pPr marL="0" indent="0" algn="ctr">
              <a:buNone/>
            </a:pPr>
            <a:r>
              <a:rPr lang="en-US" sz="1300" b="0" i="0" spc="0" dirty="0">
                <a:solidFill>
                  <a:srgbClr val="FFFFFF"/>
                </a:solidFill>
                <a:latin typeface="Calibri"/>
              </a:rPr>
              <a:t>0.52</a:t>
            </a:r>
          </a:p>
          <a:p>
            <a:pPr marL="0" indent="0" algn="ctr">
              <a:buNone/>
            </a:pPr>
            <a:r>
              <a:rPr lang="en-US" sz="1300" b="0" i="0" spc="0" dirty="0">
                <a:solidFill>
                  <a:srgbClr val="FFFFFF"/>
                </a:solidFill>
                <a:latin typeface="Calibri"/>
              </a:rPr>
              <a:t>...</a:t>
            </a:r>
          </a:p>
          <a:p>
            <a:pPr marL="0" indent="0" algn="ctr">
              <a:buNone/>
            </a:pPr>
            <a:r>
              <a:rPr lang="en-US" sz="1300" b="0" i="0" spc="0" dirty="0">
                <a:solidFill>
                  <a:srgbClr val="FFFFFF"/>
                </a:solidFill>
                <a:latin typeface="Calibri"/>
              </a:rPr>
              <a:t>0.85</a:t>
            </a:r>
          </a:p>
        </p:txBody>
      </p:sp>
      <p:sp>
        <p:nvSpPr>
          <p:cNvPr id="25" name="Text"/>
          <p:cNvSpPr/>
          <p:nvPr/>
        </p:nvSpPr>
        <p:spPr>
          <a:xfrm>
            <a:off x="5166360" y="2103120"/>
            <a:ext cx="365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0" spc="0" dirty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6" name="Card"/>
          <p:cNvSpPr/>
          <p:nvPr/>
        </p:nvSpPr>
        <p:spPr>
          <a:xfrm>
            <a:off x="5532120" y="1737360"/>
            <a:ext cx="1188720" cy="27432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9525">
            <a:solidFill>
              <a:srgbClr val="2E2E5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"/>
          <p:cNvSpPr/>
          <p:nvPr/>
        </p:nvSpPr>
        <p:spPr>
          <a:xfrm>
            <a:off x="553212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spc="0" dirty="0">
                <a:solidFill>
                  <a:srgbClr val="F59E0B"/>
                </a:solidFill>
                <a:latin typeface="Calibri"/>
              </a:rPr>
              <a:t>sweet ness</a:t>
            </a:r>
          </a:p>
        </p:txBody>
      </p:sp>
      <p:sp>
        <p:nvSpPr>
          <p:cNvPr id="28" name="Card"/>
          <p:cNvSpPr/>
          <p:nvPr/>
        </p:nvSpPr>
        <p:spPr>
          <a:xfrm>
            <a:off x="5532120" y="2103120"/>
            <a:ext cx="1188720" cy="1828800"/>
          </a:xfrm>
          <a:prstGeom prst="roundRect">
            <a:avLst>
              <a:gd name="adj" fmla="val 8000"/>
            </a:avLst>
          </a:prstGeom>
          <a:solidFill>
            <a:srgbClr val="0D0D1A"/>
          </a:solidFill>
          <a:ln w="15875">
            <a:solidFill>
              <a:srgbClr val="A855F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"/>
          <p:cNvSpPr/>
          <p:nvPr/>
        </p:nvSpPr>
        <p:spPr>
          <a:xfrm>
            <a:off x="5532120" y="2103120"/>
            <a:ext cx="1188720" cy="18288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300" b="0" i="0" spc="0" dirty="0">
                <a:solidFill>
                  <a:srgbClr val="FFFFFF"/>
                </a:solidFill>
                <a:latin typeface="Calibri"/>
              </a:rPr>
              <a:t>0.39</a:t>
            </a:r>
          </a:p>
          <a:p>
            <a:pPr marL="0" indent="0" algn="ctr">
              <a:buNone/>
            </a:pPr>
            <a:r>
              <a:rPr lang="en-US" sz="1300" b="0" i="0" spc="0" dirty="0">
                <a:solidFill>
                  <a:srgbClr val="FFFFFF"/>
                </a:solidFill>
                <a:latin typeface="Calibri"/>
              </a:rPr>
              <a:t>-0.11</a:t>
            </a:r>
          </a:p>
          <a:p>
            <a:pPr marL="0" indent="0" algn="ctr">
              <a:buNone/>
            </a:pPr>
            <a:r>
              <a:rPr lang="en-US" sz="1300" b="0" i="0" spc="0" dirty="0">
                <a:solidFill>
                  <a:srgbClr val="FFFFFF"/>
                </a:solidFill>
                <a:latin typeface="Calibri"/>
              </a:rPr>
              <a:t>-0.98</a:t>
            </a:r>
          </a:p>
          <a:p>
            <a:pPr marL="0" indent="0" algn="ctr">
              <a:buNone/>
            </a:pPr>
            <a:r>
              <a:rPr lang="en-US" sz="1300" b="0" i="0" spc="0" dirty="0">
                <a:solidFill>
                  <a:srgbClr val="FFFFFF"/>
                </a:solidFill>
                <a:latin typeface="Calibri"/>
              </a:rPr>
              <a:t>...</a:t>
            </a:r>
          </a:p>
          <a:p>
            <a:pPr marL="0" indent="0" algn="ctr">
              <a:buNone/>
            </a:pPr>
            <a:r>
              <a:rPr lang="en-US" sz="1300" b="0" i="0" spc="0" dirty="0">
                <a:solidFill>
                  <a:srgbClr val="FFFFFF"/>
                </a:solidFill>
                <a:latin typeface="Calibri"/>
              </a:rPr>
              <a:t>-0.46</a:t>
            </a:r>
          </a:p>
        </p:txBody>
      </p:sp>
      <p:sp>
        <p:nvSpPr>
          <p:cNvPr id="30" name="Text"/>
          <p:cNvSpPr/>
          <p:nvPr/>
        </p:nvSpPr>
        <p:spPr>
          <a:xfrm>
            <a:off x="6720840" y="2103120"/>
            <a:ext cx="365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0" spc="0" dirty="0">
                <a:solidFill>
                  <a:srgbClr val="FFFFFF"/>
                </a:solidFill>
                <a:latin typeface="Calibri"/>
              </a:rPr>
              <a:t>=</a:t>
            </a:r>
          </a:p>
        </p:txBody>
      </p:sp>
      <p:sp>
        <p:nvSpPr>
          <p:cNvPr id="31" name="Card"/>
          <p:cNvSpPr/>
          <p:nvPr/>
        </p:nvSpPr>
        <p:spPr>
          <a:xfrm>
            <a:off x="7086600" y="1737360"/>
            <a:ext cx="1188720" cy="27432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9525">
            <a:solidFill>
              <a:srgbClr val="2E2E5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"/>
          <p:cNvSpPr/>
          <p:nvPr/>
        </p:nvSpPr>
        <p:spPr>
          <a:xfrm>
            <a:off x="708660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spc="0" dirty="0">
                <a:solidFill>
                  <a:srgbClr val="10B981"/>
                </a:solidFill>
                <a:latin typeface="Calibri"/>
              </a:rPr>
              <a:t>dish</a:t>
            </a:r>
          </a:p>
        </p:txBody>
      </p:sp>
      <p:sp>
        <p:nvSpPr>
          <p:cNvPr id="33" name="Card"/>
          <p:cNvSpPr/>
          <p:nvPr/>
        </p:nvSpPr>
        <p:spPr>
          <a:xfrm>
            <a:off x="7086600" y="2103120"/>
            <a:ext cx="1188720" cy="1828800"/>
          </a:xfrm>
          <a:prstGeom prst="roundRect">
            <a:avLst>
              <a:gd name="adj" fmla="val 8000"/>
            </a:avLst>
          </a:prstGeom>
          <a:solidFill>
            <a:srgbClr val="0D0D1A"/>
          </a:solidFill>
          <a:ln w="15875">
            <a:solidFill>
              <a:srgbClr val="10B98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"/>
          <p:cNvSpPr/>
          <p:nvPr/>
        </p:nvSpPr>
        <p:spPr>
          <a:xfrm>
            <a:off x="7086600" y="2103120"/>
            <a:ext cx="1188720" cy="18288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300" b="0" i="0" spc="0" dirty="0">
                <a:solidFill>
                  <a:srgbClr val="10B981"/>
                </a:solidFill>
                <a:latin typeface="Calibri"/>
              </a:rPr>
              <a:t>1.34</a:t>
            </a:r>
          </a:p>
          <a:p>
            <a:pPr marL="0" indent="0" algn="ctr">
              <a:buNone/>
            </a:pPr>
            <a:r>
              <a:rPr lang="en-US" sz="1300" b="0" i="0" spc="0" dirty="0">
                <a:solidFill>
                  <a:srgbClr val="10B981"/>
                </a:solidFill>
                <a:latin typeface="Calibri"/>
              </a:rPr>
              <a:t>0.75</a:t>
            </a:r>
          </a:p>
          <a:p>
            <a:pPr marL="0" indent="0" algn="ctr">
              <a:buNone/>
            </a:pPr>
            <a:r>
              <a:rPr lang="en-US" sz="1300" b="0" i="0" spc="0" dirty="0">
                <a:solidFill>
                  <a:srgbClr val="10B981"/>
                </a:solidFill>
                <a:latin typeface="Calibri"/>
              </a:rPr>
              <a:t>0.38</a:t>
            </a:r>
          </a:p>
          <a:p>
            <a:pPr marL="0" indent="0" algn="ctr">
              <a:buNone/>
            </a:pPr>
            <a:r>
              <a:rPr lang="en-US" sz="1300" b="0" i="0" spc="0" dirty="0">
                <a:solidFill>
                  <a:srgbClr val="10B981"/>
                </a:solidFill>
                <a:latin typeface="Calibri"/>
              </a:rPr>
              <a:t>...</a:t>
            </a:r>
          </a:p>
          <a:p>
            <a:pPr marL="0" indent="0" algn="ctr">
              <a:buNone/>
            </a:pPr>
            <a:r>
              <a:rPr lang="en-US" sz="1300" b="0" i="0" spc="0" dirty="0">
                <a:solidFill>
                  <a:srgbClr val="10B981"/>
                </a:solidFill>
                <a:latin typeface="Calibri"/>
              </a:rPr>
              <a:t>-1.15</a:t>
            </a:r>
          </a:p>
        </p:txBody>
      </p:sp>
      <p:sp>
        <p:nvSpPr>
          <p:cNvPr id="35" name="Card"/>
          <p:cNvSpPr/>
          <p:nvPr/>
        </p:nvSpPr>
        <p:spPr>
          <a:xfrm>
            <a:off x="838680" y="4023360"/>
            <a:ext cx="1248720" cy="320040"/>
          </a:xfrm>
          <a:prstGeom prst="roundRect">
            <a:avLst>
              <a:gd name="adj" fmla="val 8000"/>
            </a:avLst>
          </a:prstGeom>
          <a:solidFill>
            <a:srgbClr val="1A1A30"/>
          </a:solidFill>
          <a:ln w="12700">
            <a:solidFill>
              <a:srgbClr val="A855F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"/>
          <p:cNvSpPr/>
          <p:nvPr/>
        </p:nvSpPr>
        <p:spPr>
          <a:xfrm>
            <a:off x="838680" y="4023360"/>
            <a:ext cx="124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0" spc="0" dirty="0">
                <a:solidFill>
                  <a:srgbClr val="FFFFFF"/>
                </a:solidFill>
                <a:latin typeface="Calibri"/>
              </a:rPr>
              <a:t>Static Embedding</a:t>
            </a:r>
          </a:p>
        </p:txBody>
      </p:sp>
      <p:sp>
        <p:nvSpPr>
          <p:cNvPr id="37" name="Card"/>
          <p:cNvSpPr/>
          <p:nvPr/>
        </p:nvSpPr>
        <p:spPr>
          <a:xfrm>
            <a:off x="7056600" y="4023360"/>
            <a:ext cx="1248720" cy="320040"/>
          </a:xfrm>
          <a:prstGeom prst="roundRect">
            <a:avLst>
              <a:gd name="adj" fmla="val 8000"/>
            </a:avLst>
          </a:prstGeom>
          <a:solidFill>
            <a:srgbClr val="1A1A30"/>
          </a:solidFill>
          <a:ln w="12700">
            <a:solidFill>
              <a:srgbClr val="10B98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"/>
          <p:cNvSpPr/>
          <p:nvPr/>
        </p:nvSpPr>
        <p:spPr>
          <a:xfrm>
            <a:off x="7056600" y="4023360"/>
            <a:ext cx="124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0" spc="0" dirty="0">
                <a:solidFill>
                  <a:srgbClr val="10B981"/>
                </a:solidFill>
                <a:latin typeface="Calibri"/>
              </a:rPr>
              <a:t>Contextual Embedding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LessonPill"/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LessonText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spc="200" dirty="0">
                <a:solidFill>
                  <a:srgbClr val="A855F7"/>
                </a:solidFill>
                <a:latin typeface="Calibri"/>
              </a:rPr>
              <a:t>LESSON 06</a:t>
            </a:r>
          </a:p>
        </p:txBody>
      </p:sp>
      <p:sp>
        <p:nvSpPr>
          <p:cNvPr id="5" name="Title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/>
              </a:rPr>
              <a:t>The Transformer Architecture</a:t>
            </a:r>
          </a:p>
        </p:txBody>
      </p:sp>
      <p:sp>
        <p:nvSpPr>
          <p:cNvPr id="10" name="Card"/>
          <p:cNvSpPr/>
          <p:nvPr/>
        </p:nvSpPr>
        <p:spPr>
          <a:xfrm>
            <a:off x="685800" y="1143000"/>
            <a:ext cx="7772400" cy="3657600"/>
          </a:xfrm>
          <a:prstGeom prst="roundRect">
            <a:avLst>
              <a:gd name="adj" fmla="val 8000"/>
            </a:avLst>
          </a:prstGeom>
          <a:solidFill>
            <a:srgbClr val="13132A"/>
          </a:solidFill>
          <a:ln w="12700">
            <a:solidFill>
              <a:srgbClr val="2E2E5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Card"/>
          <p:cNvSpPr/>
          <p:nvPr/>
        </p:nvSpPr>
        <p:spPr>
          <a:xfrm>
            <a:off x="1783080" y="4251960"/>
            <a:ext cx="1920240" cy="274320"/>
          </a:xfrm>
          <a:prstGeom prst="roundRect">
            <a:avLst>
              <a:gd name="adj" fmla="val 8000"/>
            </a:avLst>
          </a:prstGeom>
          <a:solidFill>
            <a:srgbClr val="0D0D1A"/>
          </a:solidFill>
          <a:ln w="12700">
            <a:solidFill>
              <a:srgbClr val="94A3B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"/>
          <p:cNvSpPr/>
          <p:nvPr/>
        </p:nvSpPr>
        <p:spPr>
          <a:xfrm>
            <a:off x="1783080" y="4251960"/>
            <a:ext cx="1920240" cy="274320"/>
          </a:xfrm>
          <a:prstGeom prst="rect">
            <a:avLst/>
          </a:prstGeom>
          <a:noFill/>
          <a:ln/>
        </p:spPr>
        <p:txBody>
          <a:bodyPr wrap="square" lIns="30480" tIns="15240" rIns="30480" bIns="15240" rtlCol="0" anchor="ctr"/>
          <a:lstStyle/>
          <a:p>
            <a:pPr marL="0" indent="0" algn="ctr">
              <a:buNone/>
            </a:pPr>
            <a:r>
              <a:rPr lang="en-US" sz="1100" b="1" i="0" spc="0" dirty="0">
                <a:solidFill>
                  <a:srgbClr val="94A3B8"/>
                </a:solidFill>
                <a:latin typeface="Calibri"/>
              </a:rPr>
              <a:t>Embeddings / Projections</a:t>
            </a:r>
          </a:p>
        </p:txBody>
      </p:sp>
      <p:sp>
        <p:nvSpPr>
          <p:cNvPr id="32" name="Card"/>
          <p:cNvSpPr/>
          <p:nvPr/>
        </p:nvSpPr>
        <p:spPr>
          <a:xfrm>
            <a:off x="1783080" y="3931920"/>
            <a:ext cx="1920240" cy="274320"/>
          </a:xfrm>
          <a:prstGeom prst="roundRect">
            <a:avLst>
              <a:gd name="adj" fmla="val 8000"/>
            </a:avLst>
          </a:prstGeom>
          <a:solidFill>
            <a:srgbClr val="0D0D1A"/>
          </a:solidFill>
          <a:ln w="12700">
            <a:solidFill>
              <a:srgbClr val="86EFA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"/>
          <p:cNvSpPr/>
          <p:nvPr/>
        </p:nvSpPr>
        <p:spPr>
          <a:xfrm>
            <a:off x="178308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30480" tIns="15240" rIns="30480" bIns="15240" rtlCol="0" anchor="ctr"/>
          <a:lstStyle/>
          <a:p>
            <a:pPr marL="0" indent="0" algn="ctr">
              <a:buNone/>
            </a:pPr>
            <a:r>
              <a:rPr lang="en-US" sz="1000" b="1" i="0" spc="0" dirty="0">
                <a:solidFill>
                  <a:srgbClr val="86EFAC"/>
                </a:solidFill>
                <a:latin typeface="Calibri"/>
              </a:rPr>
              <a:t>Norm</a:t>
            </a:r>
          </a:p>
        </p:txBody>
      </p:sp>
      <p:sp>
        <p:nvSpPr>
          <p:cNvPr id="34" name="Card"/>
          <p:cNvSpPr/>
          <p:nvPr/>
        </p:nvSpPr>
        <p:spPr>
          <a:xfrm>
            <a:off x="1783080" y="3520440"/>
            <a:ext cx="1920240" cy="365760"/>
          </a:xfrm>
          <a:prstGeom prst="roundRect">
            <a:avLst>
              <a:gd name="adj" fmla="val 8000"/>
            </a:avLst>
          </a:prstGeom>
          <a:solidFill>
            <a:srgbClr val="0D0D1A"/>
          </a:solidFill>
          <a:ln w="12700">
            <a:solidFill>
              <a:srgbClr val="60A5F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"/>
          <p:cNvSpPr/>
          <p:nvPr/>
        </p:nvSpPr>
        <p:spPr>
          <a:xfrm>
            <a:off x="1783080" y="3520440"/>
            <a:ext cx="1920240" cy="365760"/>
          </a:xfrm>
          <a:prstGeom prst="rect">
            <a:avLst/>
          </a:prstGeom>
          <a:noFill/>
          <a:ln/>
        </p:spPr>
        <p:txBody>
          <a:bodyPr wrap="square" lIns="30480" tIns="15240" rIns="30480" bIns="15240" rtlCol="0" anchor="ctr"/>
          <a:lstStyle/>
          <a:p>
            <a:pPr marL="0" indent="0" algn="ctr">
              <a:buNone/>
            </a:pPr>
            <a:r>
              <a:rPr lang="en-US" sz="1100" b="1" i="0" spc="0" dirty="0">
                <a:solidFill>
                  <a:srgbClr val="60A5FA"/>
                </a:solidFill>
                <a:latin typeface="Calibri"/>
              </a:rPr>
              <a:t>Multi-Head</a:t>
            </a:r>
          </a:p>
          <a:p>
            <a:pPr marL="0" indent="0" algn="ctr">
              <a:buNone/>
            </a:pPr>
            <a:r>
              <a:rPr lang="en-US" sz="1100" b="1" i="0" spc="0" dirty="0">
                <a:solidFill>
                  <a:srgbClr val="60A5FA"/>
                </a:solidFill>
                <a:latin typeface="Calibri"/>
              </a:rPr>
              <a:t>Self-Attention</a:t>
            </a:r>
          </a:p>
        </p:txBody>
      </p:sp>
      <p:sp>
        <p:nvSpPr>
          <p:cNvPr id="36" name="Card"/>
          <p:cNvSpPr/>
          <p:nvPr/>
        </p:nvSpPr>
        <p:spPr>
          <a:xfrm>
            <a:off x="1783080" y="3200400"/>
            <a:ext cx="1920240" cy="274320"/>
          </a:xfrm>
          <a:prstGeom prst="roundRect">
            <a:avLst>
              <a:gd name="adj" fmla="val 8000"/>
            </a:avLst>
          </a:prstGeom>
          <a:solidFill>
            <a:srgbClr val="0D0D1A"/>
          </a:solidFill>
          <a:ln w="12700">
            <a:solidFill>
              <a:srgbClr val="86EFA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"/>
          <p:cNvSpPr/>
          <p:nvPr/>
        </p:nvSpPr>
        <p:spPr>
          <a:xfrm>
            <a:off x="178308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30480" tIns="15240" rIns="30480" bIns="15240" rtlCol="0" anchor="ctr"/>
          <a:lstStyle/>
          <a:p>
            <a:pPr marL="0" indent="0" algn="ctr">
              <a:buNone/>
            </a:pPr>
            <a:r>
              <a:rPr lang="en-US" sz="1000" b="1" i="0" spc="0" dirty="0">
                <a:solidFill>
                  <a:srgbClr val="86EFAC"/>
                </a:solidFill>
                <a:latin typeface="Calibri"/>
              </a:rPr>
              <a:t>Norm</a:t>
            </a:r>
          </a:p>
        </p:txBody>
      </p:sp>
      <p:sp>
        <p:nvSpPr>
          <p:cNvPr id="38" name="Card"/>
          <p:cNvSpPr/>
          <p:nvPr/>
        </p:nvSpPr>
        <p:spPr>
          <a:xfrm>
            <a:off x="1783080" y="2788920"/>
            <a:ext cx="1920240" cy="365760"/>
          </a:xfrm>
          <a:prstGeom prst="roundRect">
            <a:avLst>
              <a:gd name="adj" fmla="val 8000"/>
            </a:avLst>
          </a:prstGeom>
          <a:solidFill>
            <a:srgbClr val="0D0D1A"/>
          </a:solidFill>
          <a:ln w="12700">
            <a:solidFill>
              <a:srgbClr val="FCD34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"/>
          <p:cNvSpPr/>
          <p:nvPr/>
        </p:nvSpPr>
        <p:spPr>
          <a:xfrm>
            <a:off x="1783080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30480" tIns="15240" rIns="30480" bIns="15240" rtlCol="0" anchor="ctr"/>
          <a:lstStyle/>
          <a:p>
            <a:pPr marL="0" indent="0" algn="ctr">
              <a:buNone/>
            </a:pPr>
            <a:r>
              <a:rPr lang="en-US" sz="1100" b="1" i="0" spc="0" dirty="0">
                <a:solidFill>
                  <a:srgbClr val="FCD34D"/>
                </a:solidFill>
                <a:latin typeface="Calibri"/>
              </a:rPr>
              <a:t>Feed-Forward</a:t>
            </a:r>
          </a:p>
          <a:p>
            <a:pPr marL="0" indent="0" algn="ctr">
              <a:buNone/>
            </a:pPr>
            <a:r>
              <a:rPr lang="en-US" sz="1100" b="1" i="0" spc="0" dirty="0">
                <a:solidFill>
                  <a:srgbClr val="FCD34D"/>
                </a:solidFill>
                <a:latin typeface="Calibri"/>
              </a:rPr>
              <a:t>Network</a:t>
            </a:r>
          </a:p>
        </p:txBody>
      </p:sp>
      <p:sp>
        <p:nvSpPr>
          <p:cNvPr id="40" name="Card"/>
          <p:cNvSpPr/>
          <p:nvPr/>
        </p:nvSpPr>
        <p:spPr>
          <a:xfrm>
            <a:off x="1783080" y="2468880"/>
            <a:ext cx="1920240" cy="274320"/>
          </a:xfrm>
          <a:prstGeom prst="roundRect">
            <a:avLst>
              <a:gd name="adj" fmla="val 8000"/>
            </a:avLst>
          </a:prstGeom>
          <a:solidFill>
            <a:srgbClr val="0D0D1A"/>
          </a:solidFill>
          <a:ln w="12700">
            <a:solidFill>
              <a:srgbClr val="86EFA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"/>
          <p:cNvSpPr/>
          <p:nvPr/>
        </p:nvSpPr>
        <p:spPr>
          <a:xfrm>
            <a:off x="178308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30480" tIns="15240" rIns="30480" bIns="15240" rtlCol="0" anchor="ctr"/>
          <a:lstStyle/>
          <a:p>
            <a:pPr marL="0" indent="0" algn="ctr">
              <a:buNone/>
            </a:pPr>
            <a:r>
              <a:rPr lang="en-US" sz="1000" b="1" i="0" spc="0" dirty="0">
                <a:solidFill>
                  <a:srgbClr val="86EFAC"/>
                </a:solidFill>
                <a:latin typeface="Calibri"/>
              </a:rPr>
              <a:t>Norm</a:t>
            </a:r>
          </a:p>
        </p:txBody>
      </p:sp>
      <p:sp>
        <p:nvSpPr>
          <p:cNvPr id="42" name="Text"/>
          <p:cNvSpPr/>
          <p:nvPr/>
        </p:nvSpPr>
        <p:spPr>
          <a:xfrm>
            <a:off x="1097280" y="28346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spc="0" dirty="0">
                <a:solidFill>
                  <a:srgbClr val="8A8AA8"/>
                </a:solidFill>
                <a:latin typeface="Calibri"/>
              </a:rPr>
              <a:t>Nx</a:t>
            </a:r>
          </a:p>
          <a:p>
            <a:pPr marL="0" indent="0" algn="ctr">
              <a:buNone/>
            </a:pPr>
            <a:r>
              <a:rPr lang="en-US" sz="900" b="0" i="1" spc="0" dirty="0">
                <a:solidFill>
                  <a:srgbClr val="8A8AA8"/>
                </a:solidFill>
                <a:latin typeface="Calibri"/>
              </a:rPr>
              <a:t>Layers</a:t>
            </a:r>
          </a:p>
        </p:txBody>
      </p:sp>
      <p:sp>
        <p:nvSpPr>
          <p:cNvPr id="43" name="Text"/>
          <p:cNvSpPr/>
          <p:nvPr/>
        </p:nvSpPr>
        <p:spPr>
          <a:xfrm>
            <a:off x="1783080" y="45720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0" i="1" spc="0" dirty="0">
                <a:solidFill>
                  <a:srgbClr val="8A8AA8"/>
                </a:solidFill>
                <a:latin typeface="Calibri"/>
              </a:rPr>
              <a:t>Source Sequence</a:t>
            </a:r>
          </a:p>
        </p:txBody>
      </p:sp>
      <p:sp>
        <p:nvSpPr>
          <p:cNvPr id="44" name="Card"/>
          <p:cNvSpPr/>
          <p:nvPr/>
        </p:nvSpPr>
        <p:spPr>
          <a:xfrm>
            <a:off x="5440680" y="4251960"/>
            <a:ext cx="1920240" cy="274320"/>
          </a:xfrm>
          <a:prstGeom prst="roundRect">
            <a:avLst>
              <a:gd name="adj" fmla="val 8000"/>
            </a:avLst>
          </a:prstGeom>
          <a:solidFill>
            <a:srgbClr val="0D0D1A"/>
          </a:solidFill>
          <a:ln w="12700">
            <a:solidFill>
              <a:srgbClr val="94A3B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"/>
          <p:cNvSpPr/>
          <p:nvPr/>
        </p:nvSpPr>
        <p:spPr>
          <a:xfrm>
            <a:off x="5440680" y="4251960"/>
            <a:ext cx="1920240" cy="274320"/>
          </a:xfrm>
          <a:prstGeom prst="rect">
            <a:avLst/>
          </a:prstGeom>
          <a:noFill/>
          <a:ln/>
        </p:spPr>
        <p:txBody>
          <a:bodyPr wrap="square" lIns="30480" tIns="15240" rIns="30480" bIns="15240" rtlCol="0" anchor="ctr"/>
          <a:lstStyle/>
          <a:p>
            <a:pPr marL="0" indent="0" algn="ctr">
              <a:buNone/>
            </a:pPr>
            <a:r>
              <a:rPr lang="en-US" sz="1100" b="1" i="0" spc="0" dirty="0">
                <a:solidFill>
                  <a:srgbClr val="94A3B8"/>
                </a:solidFill>
                <a:latin typeface="Calibri"/>
              </a:rPr>
              <a:t>Embeddings / Projections</a:t>
            </a:r>
          </a:p>
        </p:txBody>
      </p:sp>
      <p:sp>
        <p:nvSpPr>
          <p:cNvPr id="46" name="Card"/>
          <p:cNvSpPr/>
          <p:nvPr/>
        </p:nvSpPr>
        <p:spPr>
          <a:xfrm>
            <a:off x="5440680" y="3931920"/>
            <a:ext cx="1920240" cy="274320"/>
          </a:xfrm>
          <a:prstGeom prst="roundRect">
            <a:avLst>
              <a:gd name="adj" fmla="val 8000"/>
            </a:avLst>
          </a:prstGeom>
          <a:solidFill>
            <a:srgbClr val="0D0D1A"/>
          </a:solidFill>
          <a:ln w="12700">
            <a:solidFill>
              <a:srgbClr val="86EFA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"/>
          <p:cNvSpPr/>
          <p:nvPr/>
        </p:nvSpPr>
        <p:spPr>
          <a:xfrm>
            <a:off x="544068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30480" tIns="15240" rIns="30480" bIns="15240" rtlCol="0" anchor="ctr"/>
          <a:lstStyle/>
          <a:p>
            <a:pPr marL="0" indent="0" algn="ctr">
              <a:buNone/>
            </a:pPr>
            <a:r>
              <a:rPr lang="en-US" sz="1000" b="1" i="0" spc="0" dirty="0">
                <a:solidFill>
                  <a:srgbClr val="86EFAC"/>
                </a:solidFill>
                <a:latin typeface="Calibri"/>
              </a:rPr>
              <a:t>Norm</a:t>
            </a:r>
          </a:p>
        </p:txBody>
      </p:sp>
      <p:sp>
        <p:nvSpPr>
          <p:cNvPr id="48" name="Card"/>
          <p:cNvSpPr/>
          <p:nvPr/>
        </p:nvSpPr>
        <p:spPr>
          <a:xfrm>
            <a:off x="5440680" y="3520440"/>
            <a:ext cx="1920240" cy="365760"/>
          </a:xfrm>
          <a:prstGeom prst="roundRect">
            <a:avLst>
              <a:gd name="adj" fmla="val 8000"/>
            </a:avLst>
          </a:prstGeom>
          <a:solidFill>
            <a:srgbClr val="0D0D1A"/>
          </a:solidFill>
          <a:ln w="12700">
            <a:solidFill>
              <a:srgbClr val="F472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"/>
          <p:cNvSpPr/>
          <p:nvPr/>
        </p:nvSpPr>
        <p:spPr>
          <a:xfrm>
            <a:off x="5440680" y="3520440"/>
            <a:ext cx="1920240" cy="365760"/>
          </a:xfrm>
          <a:prstGeom prst="rect">
            <a:avLst/>
          </a:prstGeom>
          <a:noFill/>
          <a:ln/>
        </p:spPr>
        <p:txBody>
          <a:bodyPr wrap="square" lIns="30480" tIns="15240" rIns="30480" bIns="15240" rtlCol="0" anchor="ctr"/>
          <a:lstStyle/>
          <a:p>
            <a:pPr marL="0" indent="0" algn="ctr">
              <a:buNone/>
            </a:pPr>
            <a:r>
              <a:rPr lang="en-US" sz="1000" b="1" i="0" spc="0" dirty="0">
                <a:solidFill>
                  <a:srgbClr val="F472B6"/>
                </a:solidFill>
                <a:latin typeface="Calibri"/>
              </a:rPr>
              <a:t>Masked Multi-Head</a:t>
            </a:r>
          </a:p>
          <a:p>
            <a:pPr marL="0" indent="0" algn="ctr">
              <a:buNone/>
            </a:pPr>
            <a:r>
              <a:rPr lang="en-US" sz="1000" b="1" i="0" spc="0" dirty="0">
                <a:solidFill>
                  <a:srgbClr val="F472B6"/>
                </a:solidFill>
                <a:latin typeface="Calibri"/>
              </a:rPr>
              <a:t>Self-Attention</a:t>
            </a:r>
          </a:p>
        </p:txBody>
      </p:sp>
      <p:sp>
        <p:nvSpPr>
          <p:cNvPr id="50" name="Card"/>
          <p:cNvSpPr/>
          <p:nvPr/>
        </p:nvSpPr>
        <p:spPr>
          <a:xfrm>
            <a:off x="5440680" y="3200400"/>
            <a:ext cx="1920240" cy="274320"/>
          </a:xfrm>
          <a:prstGeom prst="roundRect">
            <a:avLst>
              <a:gd name="adj" fmla="val 8000"/>
            </a:avLst>
          </a:prstGeom>
          <a:solidFill>
            <a:srgbClr val="0D0D1A"/>
          </a:solidFill>
          <a:ln w="12700">
            <a:solidFill>
              <a:srgbClr val="86EFA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"/>
          <p:cNvSpPr/>
          <p:nvPr/>
        </p:nvSpPr>
        <p:spPr>
          <a:xfrm>
            <a:off x="544068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30480" tIns="15240" rIns="30480" bIns="15240" rtlCol="0" anchor="ctr"/>
          <a:lstStyle/>
          <a:p>
            <a:pPr marL="0" indent="0" algn="ctr">
              <a:buNone/>
            </a:pPr>
            <a:r>
              <a:rPr lang="en-US" sz="1000" b="1" i="0" spc="0" dirty="0">
                <a:solidFill>
                  <a:srgbClr val="86EFAC"/>
                </a:solidFill>
                <a:latin typeface="Calibri"/>
              </a:rPr>
              <a:t>Norm</a:t>
            </a:r>
          </a:p>
        </p:txBody>
      </p:sp>
      <p:sp>
        <p:nvSpPr>
          <p:cNvPr id="52" name="Card"/>
          <p:cNvSpPr/>
          <p:nvPr/>
        </p:nvSpPr>
        <p:spPr>
          <a:xfrm>
            <a:off x="5440680" y="2788920"/>
            <a:ext cx="1920240" cy="365760"/>
          </a:xfrm>
          <a:prstGeom prst="roundRect">
            <a:avLst>
              <a:gd name="adj" fmla="val 8000"/>
            </a:avLst>
          </a:prstGeom>
          <a:solidFill>
            <a:srgbClr val="0D0D1A"/>
          </a:solidFill>
          <a:ln w="12700">
            <a:solidFill>
              <a:srgbClr val="60A5F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"/>
          <p:cNvSpPr/>
          <p:nvPr/>
        </p:nvSpPr>
        <p:spPr>
          <a:xfrm>
            <a:off x="5440680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30480" tIns="15240" rIns="30480" bIns="15240" rtlCol="0" anchor="ctr"/>
          <a:lstStyle/>
          <a:p>
            <a:pPr marL="0" indent="0" algn="ctr">
              <a:buNone/>
            </a:pPr>
            <a:r>
              <a:rPr lang="en-US" sz="1000" b="1" i="0" spc="0" dirty="0">
                <a:solidFill>
                  <a:srgbClr val="60A5FA"/>
                </a:solidFill>
                <a:latin typeface="Calibri"/>
              </a:rPr>
              <a:t>Multi-Headed</a:t>
            </a:r>
          </a:p>
          <a:p>
            <a:pPr marL="0" indent="0" algn="ctr">
              <a:buNone/>
            </a:pPr>
            <a:r>
              <a:rPr lang="en-US" sz="1000" b="1" i="0" spc="0" dirty="0">
                <a:solidFill>
                  <a:srgbClr val="60A5FA"/>
                </a:solidFill>
                <a:latin typeface="Calibri"/>
              </a:rPr>
              <a:t>Cross-Attention</a:t>
            </a:r>
          </a:p>
        </p:txBody>
      </p:sp>
      <p:sp>
        <p:nvSpPr>
          <p:cNvPr id="54" name="Card"/>
          <p:cNvSpPr/>
          <p:nvPr/>
        </p:nvSpPr>
        <p:spPr>
          <a:xfrm>
            <a:off x="5440680" y="2468880"/>
            <a:ext cx="1920240" cy="274320"/>
          </a:xfrm>
          <a:prstGeom prst="roundRect">
            <a:avLst>
              <a:gd name="adj" fmla="val 8000"/>
            </a:avLst>
          </a:prstGeom>
          <a:solidFill>
            <a:srgbClr val="0D0D1A"/>
          </a:solidFill>
          <a:ln w="12700">
            <a:solidFill>
              <a:srgbClr val="86EFA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"/>
          <p:cNvSpPr/>
          <p:nvPr/>
        </p:nvSpPr>
        <p:spPr>
          <a:xfrm>
            <a:off x="544068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30480" tIns="15240" rIns="30480" bIns="15240" rtlCol="0" anchor="ctr"/>
          <a:lstStyle/>
          <a:p>
            <a:pPr marL="0" indent="0" algn="ctr">
              <a:buNone/>
            </a:pPr>
            <a:r>
              <a:rPr lang="en-US" sz="1000" b="1" i="0" spc="0" dirty="0">
                <a:solidFill>
                  <a:srgbClr val="86EFAC"/>
                </a:solidFill>
                <a:latin typeface="Calibri"/>
              </a:rPr>
              <a:t>Norm</a:t>
            </a:r>
          </a:p>
        </p:txBody>
      </p:sp>
      <p:sp>
        <p:nvSpPr>
          <p:cNvPr id="56" name="Card"/>
          <p:cNvSpPr/>
          <p:nvPr/>
        </p:nvSpPr>
        <p:spPr>
          <a:xfrm>
            <a:off x="5440680" y="2057400"/>
            <a:ext cx="1920240" cy="365760"/>
          </a:xfrm>
          <a:prstGeom prst="roundRect">
            <a:avLst>
              <a:gd name="adj" fmla="val 8000"/>
            </a:avLst>
          </a:prstGeom>
          <a:solidFill>
            <a:srgbClr val="0D0D1A"/>
          </a:solidFill>
          <a:ln w="12700">
            <a:solidFill>
              <a:srgbClr val="FCD34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"/>
          <p:cNvSpPr/>
          <p:nvPr/>
        </p:nvSpPr>
        <p:spPr>
          <a:xfrm>
            <a:off x="544068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30480" tIns="15240" rIns="30480" bIns="15240" rtlCol="0" anchor="ctr"/>
          <a:lstStyle/>
          <a:p>
            <a:pPr marL="0" indent="0" algn="ctr">
              <a:buNone/>
            </a:pPr>
            <a:r>
              <a:rPr lang="en-US" sz="1100" b="1" i="0" spc="0" dirty="0">
                <a:solidFill>
                  <a:srgbClr val="FCD34D"/>
                </a:solidFill>
                <a:latin typeface="Calibri"/>
              </a:rPr>
              <a:t>Feed-Forward</a:t>
            </a:r>
          </a:p>
          <a:p>
            <a:pPr marL="0" indent="0" algn="ctr">
              <a:buNone/>
            </a:pPr>
            <a:r>
              <a:rPr lang="en-US" sz="1100" b="1" i="0" spc="0" dirty="0">
                <a:solidFill>
                  <a:srgbClr val="FCD34D"/>
                </a:solidFill>
                <a:latin typeface="Calibri"/>
              </a:rPr>
              <a:t>Network</a:t>
            </a:r>
          </a:p>
        </p:txBody>
      </p:sp>
      <p:sp>
        <p:nvSpPr>
          <p:cNvPr id="58" name="Card"/>
          <p:cNvSpPr/>
          <p:nvPr/>
        </p:nvSpPr>
        <p:spPr>
          <a:xfrm>
            <a:off x="5440680" y="1737360"/>
            <a:ext cx="1920240" cy="274320"/>
          </a:xfrm>
          <a:prstGeom prst="roundRect">
            <a:avLst>
              <a:gd name="adj" fmla="val 8000"/>
            </a:avLst>
          </a:prstGeom>
          <a:solidFill>
            <a:srgbClr val="0D0D1A"/>
          </a:solidFill>
          <a:ln w="12700">
            <a:solidFill>
              <a:srgbClr val="86EFA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"/>
          <p:cNvSpPr/>
          <p:nvPr/>
        </p:nvSpPr>
        <p:spPr>
          <a:xfrm>
            <a:off x="544068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30480" tIns="15240" rIns="30480" bIns="15240" rtlCol="0" anchor="ctr"/>
          <a:lstStyle/>
          <a:p>
            <a:pPr marL="0" indent="0" algn="ctr">
              <a:buNone/>
            </a:pPr>
            <a:r>
              <a:rPr lang="en-US" sz="1000" b="1" i="0" spc="0" dirty="0">
                <a:solidFill>
                  <a:srgbClr val="86EFAC"/>
                </a:solidFill>
                <a:latin typeface="Calibri"/>
              </a:rPr>
              <a:t>Norm</a:t>
            </a:r>
          </a:p>
        </p:txBody>
      </p:sp>
      <p:sp>
        <p:nvSpPr>
          <p:cNvPr id="60" name="Card"/>
          <p:cNvSpPr/>
          <p:nvPr/>
        </p:nvSpPr>
        <p:spPr>
          <a:xfrm>
            <a:off x="5440680" y="1417320"/>
            <a:ext cx="1920240" cy="274320"/>
          </a:xfrm>
          <a:prstGeom prst="roundRect">
            <a:avLst>
              <a:gd name="adj" fmla="val 8000"/>
            </a:avLst>
          </a:prstGeom>
          <a:solidFill>
            <a:srgbClr val="0D0D1A"/>
          </a:solidFill>
          <a:ln w="12700">
            <a:solidFill>
              <a:srgbClr val="A855F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"/>
          <p:cNvSpPr/>
          <p:nvPr/>
        </p:nvSpPr>
        <p:spPr>
          <a:xfrm>
            <a:off x="5440680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30480" tIns="15240" rIns="30480" bIns="15240" rtlCol="0" anchor="ctr"/>
          <a:lstStyle/>
          <a:p>
            <a:pPr marL="0" indent="0" algn="ctr">
              <a:buNone/>
            </a:pPr>
            <a:r>
              <a:rPr lang="en-US" sz="1100" b="1" i="0" spc="0" dirty="0">
                <a:solidFill>
                  <a:srgbClr val="A855F7"/>
                </a:solidFill>
                <a:latin typeface="Calibri"/>
              </a:rPr>
              <a:t>Predictions</a:t>
            </a:r>
          </a:p>
        </p:txBody>
      </p:sp>
      <p:sp>
        <p:nvSpPr>
          <p:cNvPr id="62" name="Text"/>
          <p:cNvSpPr/>
          <p:nvPr/>
        </p:nvSpPr>
        <p:spPr>
          <a:xfrm>
            <a:off x="4754880" y="28346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spc="0" dirty="0">
                <a:solidFill>
                  <a:srgbClr val="8A8AA8"/>
                </a:solidFill>
                <a:latin typeface="Calibri"/>
              </a:rPr>
              <a:t>Nx</a:t>
            </a:r>
          </a:p>
          <a:p>
            <a:pPr marL="0" indent="0" algn="ctr">
              <a:buNone/>
            </a:pPr>
            <a:r>
              <a:rPr lang="en-US" sz="900" b="0" i="1" spc="0" dirty="0">
                <a:solidFill>
                  <a:srgbClr val="8A8AA8"/>
                </a:solidFill>
                <a:latin typeface="Calibri"/>
              </a:rPr>
              <a:t>Layers</a:t>
            </a:r>
          </a:p>
        </p:txBody>
      </p:sp>
      <p:sp>
        <p:nvSpPr>
          <p:cNvPr id="63" name="Text"/>
          <p:cNvSpPr/>
          <p:nvPr/>
        </p:nvSpPr>
        <p:spPr>
          <a:xfrm>
            <a:off x="5440680" y="45720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0" i="1" spc="0" dirty="0">
                <a:solidFill>
                  <a:srgbClr val="8A8AA8"/>
                </a:solidFill>
                <a:latin typeface="Calibri"/>
              </a:rPr>
              <a:t>Shifted Target Sequence</a:t>
            </a:r>
          </a:p>
        </p:txBody>
      </p:sp>
      <p:cxnSp>
        <p:nvCxnSpPr>
          <p:cNvPr id="64" name="Arrow"/>
          <p:cNvCxnSpPr/>
          <p:nvPr/>
        </p:nvCxnSpPr>
        <p:spPr>
          <a:xfrm flipH="0" flipV="0">
            <a:off x="3703320" y="2606040"/>
            <a:ext cx="1737360" cy="0"/>
          </a:xfrm>
          <a:prstGeom prst="line">
            <a:avLst/>
          </a:prstGeom>
          <a:ln w="12700">
            <a:solidFill>
              <a:srgbClr val="60A5FA"/>
            </a:solidFill>
            <a:prstDash val="dash"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LessonPill"/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LessonText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spc="200" dirty="0">
                <a:solidFill>
                  <a:srgbClr val="3B82F6"/>
                </a:solidFill>
                <a:latin typeface="Calibri"/>
              </a:rPr>
              <a:t>LESSON 07</a:t>
            </a:r>
          </a:p>
        </p:txBody>
      </p:sp>
      <p:sp>
        <p:nvSpPr>
          <p:cNvPr id="5" name="Title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/>
              </a:rPr>
              <a:t>The Transformer Architecture</a:t>
            </a:r>
          </a:p>
        </p:txBody>
      </p:sp>
      <p:sp>
        <p:nvSpPr>
          <p:cNvPr id="30" name="Card"/>
          <p:cNvSpPr/>
          <p:nvPr/>
        </p:nvSpPr>
        <p:spPr>
          <a:xfrm>
            <a:off x="457200" y="1188720"/>
            <a:ext cx="4480560" cy="548640"/>
          </a:xfrm>
          <a:prstGeom prst="roundRect">
            <a:avLst>
              <a:gd name="adj" fmla="val 8000"/>
            </a:avLst>
          </a:prstGeom>
          <a:solidFill>
            <a:srgbClr val="1A1A30"/>
          </a:solidFill>
          <a:ln w="15875">
            <a:solidFill>
              <a:srgbClr val="A855F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"/>
          <p:cNvSpPr/>
          <p:nvPr/>
        </p:nvSpPr>
        <p:spPr>
          <a:xfrm>
            <a:off x="640080" y="1188720"/>
            <a:ext cx="4251960" cy="548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200" b="1" i="0" spc="0" dirty="0">
                <a:solidFill>
                  <a:srgbClr val="FFFFFF"/>
                </a:solidFill>
                <a:latin typeface="Calibri"/>
              </a:rPr>
              <a:t>1. Input Tokens</a:t>
            </a:r>
          </a:p>
          <a:p>
            <a:pPr marL="0" indent="0" algn="l">
              <a:buNone/>
            </a:pPr>
            <a:r>
              <a:rPr lang="en-US" sz="900" b="0" i="0" spc="0" dirty="0">
                <a:solidFill>
                  <a:srgbClr val="C9C9D9"/>
                </a:solidFill>
                <a:latin typeface="Calibri"/>
              </a:rPr>
              <a:t>Text split into token IDs</a:t>
            </a:r>
          </a:p>
        </p:txBody>
      </p:sp>
      <p:sp>
        <p:nvSpPr>
          <p:cNvPr id="33" name="Card"/>
          <p:cNvSpPr/>
          <p:nvPr/>
        </p:nvSpPr>
        <p:spPr>
          <a:xfrm>
            <a:off x="457200" y="1828800"/>
            <a:ext cx="4480560" cy="548640"/>
          </a:xfrm>
          <a:prstGeom prst="roundRect">
            <a:avLst>
              <a:gd name="adj" fmla="val 8000"/>
            </a:avLst>
          </a:prstGeom>
          <a:solidFill>
            <a:srgbClr val="1A1A30"/>
          </a:solidFill>
          <a:ln w="15875">
            <a:solidFill>
              <a:srgbClr val="EC489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"/>
          <p:cNvSpPr/>
          <p:nvPr/>
        </p:nvSpPr>
        <p:spPr>
          <a:xfrm>
            <a:off x="640080" y="1828800"/>
            <a:ext cx="4251960" cy="548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200" b="1" i="0" spc="0" dirty="0">
                <a:solidFill>
                  <a:srgbClr val="FFFFFF"/>
                </a:solidFill>
                <a:latin typeface="Calibri"/>
              </a:rPr>
              <a:t>2. Embedding Layer</a:t>
            </a:r>
          </a:p>
          <a:p>
            <a:pPr marL="0" indent="0" algn="l">
              <a:buNone/>
            </a:pPr>
            <a:r>
              <a:rPr lang="en-US" sz="900" b="0" i="0" spc="0" dirty="0">
                <a:solidFill>
                  <a:srgbClr val="C9C9D9"/>
                </a:solidFill>
                <a:latin typeface="Calibri"/>
              </a:rPr>
              <a:t>Token IDs → vectors</a:t>
            </a:r>
          </a:p>
        </p:txBody>
      </p:sp>
      <p:sp>
        <p:nvSpPr>
          <p:cNvPr id="36" name="Card"/>
          <p:cNvSpPr/>
          <p:nvPr/>
        </p:nvSpPr>
        <p:spPr>
          <a:xfrm>
            <a:off x="457200" y="2468880"/>
            <a:ext cx="4480560" cy="548640"/>
          </a:xfrm>
          <a:prstGeom prst="roundRect">
            <a:avLst>
              <a:gd name="adj" fmla="val 8000"/>
            </a:avLst>
          </a:prstGeom>
          <a:solidFill>
            <a:srgbClr val="1A1A30"/>
          </a:solidFill>
          <a:ln w="15875">
            <a:solidFill>
              <a:srgbClr val="3B82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"/>
          <p:cNvSpPr/>
          <p:nvPr/>
        </p:nvSpPr>
        <p:spPr>
          <a:xfrm>
            <a:off x="640080" y="2468880"/>
            <a:ext cx="4251960" cy="548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200" b="1" i="0" spc="0" dirty="0">
                <a:solidFill>
                  <a:srgbClr val="FFFFFF"/>
                </a:solidFill>
                <a:latin typeface="Calibri"/>
              </a:rPr>
              <a:t>3. Positional Encoding</a:t>
            </a:r>
          </a:p>
          <a:p>
            <a:pPr marL="0" indent="0" algn="l">
              <a:buNone/>
            </a:pPr>
            <a:r>
              <a:rPr lang="en-US" sz="900" b="0" i="0" spc="0" dirty="0">
                <a:solidFill>
                  <a:srgbClr val="C9C9D9"/>
                </a:solidFill>
                <a:latin typeface="Calibri"/>
              </a:rPr>
              <a:t>Add word-order info</a:t>
            </a:r>
          </a:p>
        </p:txBody>
      </p:sp>
      <p:sp>
        <p:nvSpPr>
          <p:cNvPr id="39" name="Card"/>
          <p:cNvSpPr/>
          <p:nvPr/>
        </p:nvSpPr>
        <p:spPr>
          <a:xfrm>
            <a:off x="457200" y="3108960"/>
            <a:ext cx="4480560" cy="548640"/>
          </a:xfrm>
          <a:prstGeom prst="roundRect">
            <a:avLst>
              <a:gd name="adj" fmla="val 8000"/>
            </a:avLst>
          </a:prstGeom>
          <a:solidFill>
            <a:srgbClr val="1A1A30"/>
          </a:solidFill>
          <a:ln w="15875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"/>
          <p:cNvSpPr/>
          <p:nvPr/>
        </p:nvSpPr>
        <p:spPr>
          <a:xfrm>
            <a:off x="640080" y="3108960"/>
            <a:ext cx="4251960" cy="548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200" b="1" i="0" spc="0" dirty="0">
                <a:solidFill>
                  <a:srgbClr val="FFFFFF"/>
                </a:solidFill>
                <a:latin typeface="Calibri"/>
              </a:rPr>
              <a:t>4. Multi-Head Attention</a:t>
            </a:r>
          </a:p>
          <a:p>
            <a:pPr marL="0" indent="0" algn="l">
              <a:buNone/>
            </a:pPr>
            <a:r>
              <a:rPr lang="en-US" sz="900" b="0" i="0" spc="0" dirty="0">
                <a:solidFill>
                  <a:srgbClr val="C9C9D9"/>
                </a:solidFill>
                <a:latin typeface="Calibri"/>
              </a:rPr>
              <a:t>All tokens attend to each other</a:t>
            </a:r>
          </a:p>
        </p:txBody>
      </p:sp>
      <p:sp>
        <p:nvSpPr>
          <p:cNvPr id="42" name="Card"/>
          <p:cNvSpPr/>
          <p:nvPr/>
        </p:nvSpPr>
        <p:spPr>
          <a:xfrm>
            <a:off x="457200" y="3749040"/>
            <a:ext cx="4480560" cy="548640"/>
          </a:xfrm>
          <a:prstGeom prst="roundRect">
            <a:avLst>
              <a:gd name="adj" fmla="val 8000"/>
            </a:avLst>
          </a:prstGeom>
          <a:solidFill>
            <a:srgbClr val="1A1A30"/>
          </a:solidFill>
          <a:ln w="15875">
            <a:solidFill>
              <a:srgbClr val="10B98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"/>
          <p:cNvSpPr/>
          <p:nvPr/>
        </p:nvSpPr>
        <p:spPr>
          <a:xfrm>
            <a:off x="640080" y="3749040"/>
            <a:ext cx="4251960" cy="548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200" b="1" i="0" spc="0" dirty="0">
                <a:solidFill>
                  <a:srgbClr val="FFFFFF"/>
                </a:solidFill>
                <a:latin typeface="Calibri"/>
              </a:rPr>
              <a:t>5. Feed-Forward Layer</a:t>
            </a:r>
          </a:p>
          <a:p>
            <a:pPr marL="0" indent="0" algn="l">
              <a:buNone/>
            </a:pPr>
            <a:r>
              <a:rPr lang="en-US" sz="900" b="0" i="0" spc="0" dirty="0">
                <a:solidFill>
                  <a:srgbClr val="C9C9D9"/>
                </a:solidFill>
                <a:latin typeface="Calibri"/>
              </a:rPr>
              <a:t>Per-token processing</a:t>
            </a:r>
          </a:p>
        </p:txBody>
      </p:sp>
      <p:sp>
        <p:nvSpPr>
          <p:cNvPr id="45" name="Card"/>
          <p:cNvSpPr/>
          <p:nvPr/>
        </p:nvSpPr>
        <p:spPr>
          <a:xfrm>
            <a:off x="457200" y="4389120"/>
            <a:ext cx="4480560" cy="548640"/>
          </a:xfrm>
          <a:prstGeom prst="roundRect">
            <a:avLst>
              <a:gd name="adj" fmla="val 8000"/>
            </a:avLst>
          </a:prstGeom>
          <a:solidFill>
            <a:srgbClr val="1A1A30"/>
          </a:solidFill>
          <a:ln w="15875">
            <a:solidFill>
              <a:srgbClr val="EF44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"/>
          <p:cNvSpPr/>
          <p:nvPr/>
        </p:nvSpPr>
        <p:spPr>
          <a:xfrm>
            <a:off x="640080" y="4389120"/>
            <a:ext cx="4251960" cy="548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200" b="1" i="0" spc="0" dirty="0">
                <a:solidFill>
                  <a:srgbClr val="FFFFFF"/>
                </a:solidFill>
                <a:latin typeface="Calibri"/>
              </a:rPr>
              <a:t>6. Output Logits</a:t>
            </a:r>
          </a:p>
          <a:p>
            <a:pPr marL="0" indent="0" algn="l">
              <a:buNone/>
            </a:pPr>
            <a:r>
              <a:rPr lang="en-US" sz="900" b="0" i="0" spc="0" dirty="0">
                <a:solidFill>
                  <a:srgbClr val="C9C9D9"/>
                </a:solidFill>
                <a:latin typeface="Calibri"/>
              </a:rPr>
              <a:t>Probability over vocabulary</a:t>
            </a:r>
          </a:p>
        </p:txBody>
      </p:sp>
      <p:sp>
        <p:nvSpPr>
          <p:cNvPr id="48" name="Card"/>
          <p:cNvSpPr/>
          <p:nvPr/>
        </p:nvSpPr>
        <p:spPr>
          <a:xfrm>
            <a:off x="5120640" y="118872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1A1A30"/>
          </a:solidFill>
          <a:ln w="12700">
            <a:solidFill>
              <a:srgbClr val="2E2E5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9" name="CardAccent"/>
          <p:cNvSpPr/>
          <p:nvPr/>
        </p:nvSpPr>
        <p:spPr>
          <a:xfrm>
            <a:off x="5120640" y="1218720"/>
            <a:ext cx="50000" cy="140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"/>
          <p:cNvSpPr/>
          <p:nvPr/>
        </p:nvSpPr>
        <p:spPr>
          <a:xfrm>
            <a:off x="5240640" y="1188720"/>
            <a:ext cx="3406160" cy="14630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300" b="1" i="0" spc="0" dirty="0">
                <a:solidFill>
                  <a:srgbClr val="F59E0B"/>
                </a:solidFill>
                <a:latin typeface="Calibri"/>
              </a:rPr>
              <a:t>The 2017 Revolution</a:t>
            </a:r>
          </a:p>
          <a:p>
            <a:pPr marL="0" indent="0" algn="l">
              <a:buNone/>
            </a:pPr>
            <a:r>
              <a:rPr lang="en-US" sz="400" b="0" i="0" spc="0" dirty="0">
                <a:solidFill>
                  <a:srgbClr val="C9C9D9"/>
                </a:solidFill>
                <a:latin typeface="Calibri"/>
              </a:rPr>
              <a:t> </a:t>
            </a:r>
          </a:p>
          <a:p>
            <a:pPr marL="0" indent="0" algn="l">
              <a:buNone/>
            </a:pPr>
            <a:r>
              <a:rPr lang="en-US" sz="1000" b="0" i="0" spc="0" dirty="0">
                <a:solidFill>
                  <a:srgbClr val="C9C9D9"/>
                </a:solidFill>
                <a:latin typeface="Calibri"/>
              </a:rPr>
              <a:t>Google's 2017 paper 'Attention Is All You Need' introduced the Transformer. Every modern AI — GPT-4, Claude, Gemini — is built on this one idea.</a:t>
            </a:r>
          </a:p>
        </p:txBody>
      </p:sp>
      <p:sp>
        <p:nvSpPr>
          <p:cNvPr id="51" name="Card"/>
          <p:cNvSpPr/>
          <p:nvPr/>
        </p:nvSpPr>
        <p:spPr>
          <a:xfrm>
            <a:off x="5120640" y="2788920"/>
            <a:ext cx="3566160" cy="1280160"/>
          </a:xfrm>
          <a:prstGeom prst="roundRect">
            <a:avLst>
              <a:gd name="adj" fmla="val 8000"/>
            </a:avLst>
          </a:prstGeom>
          <a:solidFill>
            <a:srgbClr val="1A1A30"/>
          </a:solidFill>
          <a:ln w="12700">
            <a:solidFill>
              <a:srgbClr val="2E2E5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CardAccent"/>
          <p:cNvSpPr/>
          <p:nvPr/>
        </p:nvSpPr>
        <p:spPr>
          <a:xfrm>
            <a:off x="5120640" y="2818920"/>
            <a:ext cx="50000" cy="1220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"/>
          <p:cNvSpPr/>
          <p:nvPr/>
        </p:nvSpPr>
        <p:spPr>
          <a:xfrm>
            <a:off x="5240640" y="2788920"/>
            <a:ext cx="3406160" cy="12801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100" b="1" i="0" spc="0" dirty="0">
                <a:solidFill>
                  <a:srgbClr val="F59E0B"/>
                </a:solidFill>
                <a:latin typeface="Calibri"/>
              </a:rPr>
              <a:t>Here is a simple example</a:t>
            </a:r>
          </a:p>
          <a:p>
            <a:pPr marL="0" indent="0" algn="l">
              <a:buNone/>
            </a:pPr>
            <a:r>
              <a:rPr lang="en-US" sz="400" b="0" i="0" spc="0" dirty="0">
                <a:solidFill>
                  <a:srgbClr val="C9C9D9"/>
                </a:solidFill>
                <a:latin typeface="Calibri"/>
              </a:rPr>
              <a:t> </a:t>
            </a:r>
          </a:p>
          <a:p>
            <a:pPr marL="0" indent="0" algn="l">
              <a:buNone/>
            </a:pPr>
            <a:r>
              <a:rPr lang="en-US" sz="1000" b="0" i="1" spc="0" dirty="0">
                <a:solidFill>
                  <a:srgbClr val="C9C9D9"/>
                </a:solidFill>
                <a:latin typeface="Calibri"/>
              </a:rPr>
              <a:t>Before Transformers, AI read text like a slow reader — one word at a time. Transformers read the whole sentence at once, like scanning a photo vs. reading pixel by pixel.</a:t>
            </a:r>
          </a:p>
        </p:txBody>
      </p:sp>
      <p:sp>
        <p:nvSpPr>
          <p:cNvPr id="54" name="Card"/>
          <p:cNvSpPr/>
          <p:nvPr/>
        </p:nvSpPr>
        <p:spPr>
          <a:xfrm>
            <a:off x="5120640" y="4206240"/>
            <a:ext cx="3566160" cy="685800"/>
          </a:xfrm>
          <a:prstGeom prst="roundRect">
            <a:avLst>
              <a:gd name="adj" fmla="val 8000"/>
            </a:avLst>
          </a:prstGeom>
          <a:solidFill>
            <a:srgbClr val="1A1A30"/>
          </a:solidFill>
          <a:ln w="12700">
            <a:solidFill>
              <a:srgbClr val="2E2E5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CardAccent"/>
          <p:cNvSpPr/>
          <p:nvPr/>
        </p:nvSpPr>
        <p:spPr>
          <a:xfrm>
            <a:off x="5120640" y="4236240"/>
            <a:ext cx="50000" cy="62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"/>
          <p:cNvSpPr/>
          <p:nvPr/>
        </p:nvSpPr>
        <p:spPr>
          <a:xfrm>
            <a:off x="5240640" y="4206240"/>
            <a:ext cx="3406160" cy="6858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100" b="1" i="0" spc="0" dirty="0">
                <a:solidFill>
                  <a:srgbClr val="F59E0B"/>
                </a:solidFill>
                <a:latin typeface="Calibri"/>
              </a:rPr>
              <a:t>Repeat N layers →</a:t>
            </a:r>
          </a:p>
          <a:p>
            <a:pPr marL="0" indent="0" algn="l">
              <a:buNone/>
            </a:pPr>
            <a:r>
              <a:rPr lang="en-US" sz="900" b="0" i="0" spc="0" dirty="0">
                <a:solidFill>
                  <a:srgbClr val="C9C9D9"/>
                </a:solidFill>
                <a:latin typeface="Calibri"/>
              </a:rPr>
              <a:t>Early layers = syntax. Late layers = world knowledge, reasoning, style.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3417</TotalTime>
  <Words>3968</Words>
  <Application>Microsoft Macintosh PowerPoint</Application>
  <PresentationFormat>On-screen Show (16:9)</PresentationFormat>
  <Paragraphs>599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Aptos</vt:lpstr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1: Gen AI Foundations &amp; Prompt Engineering</dc:title>
  <dc:subject>PptxGenJS Presentation</dc:subject>
  <dc:creator>Pallav Rustogi</dc:creator>
  <cp:lastModifiedBy>pallav Rustogi</cp:lastModifiedBy>
  <cp:revision>2</cp:revision>
  <dcterms:created xsi:type="dcterms:W3CDTF">2026-04-22T19:08:32Z</dcterms:created>
  <dcterms:modified xsi:type="dcterms:W3CDTF">2026-04-25T04:10:51Z</dcterms:modified>
</cp:coreProperties>
</file>