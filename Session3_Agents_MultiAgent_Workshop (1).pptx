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37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 ·  SESSION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286000" cy="45720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2 Hours  ·  LangGraph · AutoGen · CrewAI  ·  Follow-Along Workshop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solidFill>
            <a:srgbClr val="120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336499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S1 Gen AI Foundations  →  S2 Intro to Agentic AI  →  S3 Agents &amp; Multi-Agent Systems  (you are here)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Pallav Rustogi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1330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@ Microsoft  ·  linkedin.com/in/pallavrustogi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773168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Single Agents Deep-Dive (30 min)  ·  PART 2: Multi-Agent Frameworks (40 min)  ·  PART 3: Follow-Along Workshop (45 min)  ·  Wrap-up (5 min)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— Come Prepared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these before the workshop. Estimated setup time: 45–60 minutes.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5196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51960" cy="420624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Environment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installed (pyenv recommended)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9110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langgraph langchain langchain-openai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2311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pyautogen crewai crewai-tools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5511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python-dotenv openai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7448" y="1115568"/>
            <a:ext cx="4251960" cy="420624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111556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API Keys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37176" y="15910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key → platform.openai.com → save as OPENAI_API_KEY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37176" y="19110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.env file: OPENAI_API_KEY=sk-...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37176" y="22311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TAVILY_API_KEY for web search tool (tavily.com — free tier)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7176" y="25511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install Ollama + pull llama3 for local fallback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25196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251960" cy="42062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Workshop Files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49300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https://github.com/pallavrustogi/agents-workshop (or download zip)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38130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structure: /langgraph_lab  /autogen_lab  /crewai_lab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41330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folder has: starter.py  (skeleton) + solution.py  (reference answer)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44531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VS Code with Python extension installed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27448" y="3017520"/>
            <a:ext cx="425196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27448" y="3017520"/>
            <a:ext cx="4251960" cy="42062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18888" y="30175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Verify Setup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37176" y="349300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-c "import langgraph, autogen, crewai; print('All good!')"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37176" y="38130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starter.py in each folder — should print 'Environment OK'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37176" y="41330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✅ in the group chat once setup is confirmed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80974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setup fails on the day, pair with a neighbour — exercises are designed for 2 people per machine too.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 — 2 Hours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91440" cy="69494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Icebreaker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8686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quick recap. Poll: 'Have you run any agent code since last session?'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91440" cy="694944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550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0:40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Single Agents Deep-Dive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6916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patterns: ReAct, Plan-and-Execute, Reflection. Memory types. Tool calling in depth.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91440" cy="694944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478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– 1:20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697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Multi-Agent Frameworks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51460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multi-agent? LangGraph state machines. AutoGen conversations. CrewAI role-based crews.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91440" cy="69494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300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– 2:05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Follow-Along Workshop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33756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labs: LangGraph stateful agent, AutoGen 2-agent debate, CrewAI content crew. Pair programming.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069080"/>
            <a:ext cx="91440" cy="694944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123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– 2:15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3434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+ Homework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16052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takeaways, framework comparison, homework brief, Q&amp;A.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Agents Deep-Dive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memory types, and tool calling in depth.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Patterns — How Agents Think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554480" cy="1316736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86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822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8046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→ Action → Observation → Thought → …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1133856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Most common. Good for tool-using tasks with unpredictable steps.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20240" y="1463040"/>
            <a:ext cx="6812280" cy="530352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1499616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S2 recap — ReAct is default LangChain agent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 = AgentExecutor(agent=react_agent,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tools=[search, calculator], verbose=True)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1554480" cy="1316736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74320" y="2816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267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87168" y="224942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Plan[1..N] → Execute step 1 → Execute step 2 → … → Synthesise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20240" y="2423328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Complex multi-step tasks. Agent plans ALL steps first, then executes sequentially.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20240" y="2770800"/>
            <a:ext cx="6812280" cy="685632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0" y="277977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langchain_experimental.plan_and_execute import 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PlanAndExecute, load_agent_executor, load_chat_planner)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  = load_chat_planner(llm)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 = load_agent_executor(llm, tools)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   = PlanAndExecute(planner=planner, executor=executor)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8595360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639312"/>
            <a:ext cx="1554480" cy="131673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7764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🪞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74320" y="4261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/ Self-Critique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" y="4645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37124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87168" y="36941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→ Critique → Revise → (repeat N times) → Final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20240" y="4023360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Quality-sensitive outputs — writing, code, analysis. Agent critiques its own output.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920240" y="4352544"/>
            <a:ext cx="6812280" cy="530352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11680" y="4389120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Reflection: pass output back as critique prompt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critique = llm.invoke(f"Critique this: {output}")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revised  = llm.invoke(f"Revise based on: {critique}")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— Four Types Every Engineer Should Know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51960" cy="438912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In-Context (Short-Term)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Chat assistants, single-session tasks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history passed in the messages array. Cheap, immediate, but limited by context window size (~128K tokens for GPT-4o).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4069080" cy="59436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messages=[{"role":"user","content":"..."},{"role":"assistant","content":"..."}]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27448" y="749808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27448" y="749808"/>
            <a:ext cx="4251960" cy="43891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18888" y="74980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External (Long-Term)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2252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Customer support bots, personal assistants across sessions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14996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(FAISS, ChromaDB, Pinecone) stores embeddings of past interactions. Agent retrieves relevant chunks via similarity search.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18888" y="2066544"/>
            <a:ext cx="4069080" cy="59436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0328" y="212140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vectorstore.similarity_search(query, k=5)  # fetch top-5 relevant memories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871216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4251960" cy="43891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87121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Episodic (Procedural)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3467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Self-improving agents, enterprise workflow automation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62102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past agent runs — what tools were called, what decisions were made, what worked. Used to improve future planning.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187952"/>
            <a:ext cx="4069080" cy="59436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242816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memory.save_context(inputs, outputs)  # LangChain ConversationEntityMemory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27448" y="2871216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27448" y="2871216"/>
            <a:ext cx="4251960" cy="438912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18888" y="287121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Semantic (Knowledge Graph)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18888" y="33467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Research agents, complex domain reasoning, compliance agents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888" y="362102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knowledge about entities and relationships. Agent queries a graph DB to reason about connected facts.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18888" y="4187952"/>
            <a:ext cx="4069080" cy="594360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4242816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graph_db.query("MATCH (n:Policy)-[:APPLIES_TO]-&gt;(m) RETURN m")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Frameworks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AutoGen · CrewAI — concepts, code, trade-offs.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 Systems?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069080" cy="4160520"/>
          </a:xfrm>
          <a:prstGeom prst="rect">
            <a:avLst/>
          </a:prstGeom>
          <a:solidFill>
            <a:srgbClr val="FFF0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069080" cy="42062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77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Single Agent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overflows on very long tasks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can't specialise in 5 domains at once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parallelism — sequential tool calls are slow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— no peer review of outputs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5526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audit which 'part' of the agent went wrong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research + writing = too much for one prompt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749808"/>
            <a:ext cx="42976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749808"/>
            <a:ext cx="4297680" cy="420624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81728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Multi-Agent Superpowers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0016" y="128016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Specialisation: </a:t>
            </a:r>
            <a:r>
              <a:rPr lang="en-US" sz="11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Researcher, Coder, Critic, Writer — each expert at one role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0016" y="177393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Parallelism: </a:t>
            </a:r>
            <a:r>
              <a:rPr lang="en-US" sz="11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 simultaneously — 10× faster pipelines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0016" y="2267712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Peer Review: </a:t>
            </a:r>
            <a:r>
              <a:rPr lang="en-US" sz="11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writes, Agent B critiques — quality loops built-in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0016" y="2761488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Scalability: </a:t>
            </a:r>
            <a:r>
              <a:rPr lang="en-US" sz="11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agents as workload grows without redesigning the whole system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0016" y="325526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Fault Isolation: </a:t>
            </a:r>
            <a:r>
              <a:rPr lang="en-US" sz="11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fails → others continue, retry, or escalate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0016" y="374904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 Clarity: </a:t>
            </a:r>
            <a:r>
              <a:rPr lang="en-US" sz="11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clear scope — easier to debug and audit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Topologies — How Agents Are Connected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51960" cy="438912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chain: Agent A output → Agent B input → Agent C. Each agent transforms the data. Simple, predictable.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69080" cy="6583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585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→ Summariser Agent → Formatter Agent → Final Report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7448" y="749808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27448" y="749808"/>
            <a:ext cx="4251960" cy="43891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18888" y="74980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Supervisor / Orchestrator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18888" y="1252728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agent routes tasks to Worker agents, collects results, decides next steps. Best for dynamic workflows.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18888" y="2011680"/>
            <a:ext cx="4069080" cy="6583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0328" y="20665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10328" y="22585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LLM → [Researcher | Coder | Reviewer] → Manager aggregates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98648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98648"/>
            <a:ext cx="4251960" cy="43891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89864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Peer-to-Peer (Debate)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401568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converse with each other, challenge assumptions, and refine answers collaboratively. No central authority.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4069080" cy="6583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153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proposes solution → Agent B critiques → Agent A revises → consensus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7448" y="2898648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27448" y="2898648"/>
            <a:ext cx="4251960" cy="438912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18888" y="289864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Hierarchical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18888" y="3401568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structure: Top manager → Sub-managers → Worker agents. Scales to very complex enterprise tasks.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18888" y="4160520"/>
            <a:ext cx="4069080" cy="6583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0328" y="42153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10328" y="440740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Agent → [Ops Agent → [Logistics | Finance]] → [Marketing Agent → [Content | Analytics]]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Stateful Agent Workflows as Graphs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611493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611493" cy="402336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863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LangChain: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" y="1481328"/>
            <a:ext cx="23995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extends LangChain with stateful, cyclic graphs — agents can loop, retry, and branch.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model: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" y="2139696"/>
            <a:ext cx="24834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LLM calls or tool calls. Edges = conditional transitions. State = shared dict passed between nodes.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loop problem: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" y="2798064"/>
            <a:ext cx="24834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chains are DAGs — no cycles. LangGraph allows loops: generate → review → regenerate.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3209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336" y="3456432"/>
            <a:ext cx="24834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interrupt_before=["critical_node"] pauses the graph at any node for human approval.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Checkpointing: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2336" y="4114800"/>
            <a:ext cx="24834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/ SqliteSaver saves state so you can resume a paused or crashed workflow.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85813" y="749808"/>
            <a:ext cx="6225218" cy="402336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1662" y="7863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ReAct Agent in LangGraph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18782" y="1147572"/>
            <a:ext cx="6225218" cy="3758184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01078" y="1207008"/>
            <a:ext cx="3279979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langchain_community.tools import DuckDuckGoSearchRun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= ChatOpenAI(model="gpt-4o", temperature=0)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[DuckDuckGoSearchRun()]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MemorySaver enables cross-turn memory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checkpointer = MemorySaver()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 tools, checkpointer=checkpointer)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call uses a thread_id to restore state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"user-42"}}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{"messages": [("user", "Latest AI news?")]},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print(result["messages"][-1].content)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endParaRPr lang="en-US" sz="82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24BC4E3-E3DB-58A5-196E-5C0BAB9841FA}"/>
              </a:ext>
            </a:extLst>
          </p:cNvPr>
          <p:cNvSpPr/>
          <p:nvPr/>
        </p:nvSpPr>
        <p:spPr>
          <a:xfrm>
            <a:off x="6363353" y="1207008"/>
            <a:ext cx="3279979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Custom graph with nodes &amp; edges ──</a:t>
            </a:r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langgraph.graph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StateGraph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</a:t>
            </a:r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TypedDict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Annotated</a:t>
            </a:r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operator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State(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TypedDict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operator.add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StateGraph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(State)</a:t>
            </a:r>
            <a:endParaRPr lang="en-US" sz="820" dirty="0"/>
          </a:p>
          <a:p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("agent",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call_model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("tools",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call_tools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("agent", "tools")</a:t>
            </a:r>
            <a:endParaRPr lang="en-US" sz="820" dirty="0"/>
          </a:p>
          <a:p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"tools",</a:t>
            </a:r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s: "agent" if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needs_more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else END)</a:t>
            </a:r>
            <a:endParaRPr lang="en-US" sz="820" dirty="0"/>
          </a:p>
          <a:p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graph.compile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checkpointer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checkpointer</a:t>
            </a:r>
            <a:r>
              <a:rPr lang="en-US" sz="8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— Conversational Multi-Agent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014164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014164" cy="402336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863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Microsoft Research: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" y="1481328"/>
            <a:ext cx="2886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framework where agents communicate via structured conversations — not code pipelines.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agents: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" y="2139696"/>
            <a:ext cx="2886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AssistantAgent (LLM-powered) + UserProxyAgent (runs code, represents human). Most patterns start here.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built-in: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" y="2798064"/>
            <a:ext cx="2886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UserProxyAgent can execute Python code the AssistantAgent writes — the agent fixes its own bugs!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3209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GroupChat: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336" y="3456432"/>
            <a:ext cx="2886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in one conversation. GroupChatManager picks who speaks next based on context.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0.4+: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2336" y="4114800"/>
            <a:ext cx="2886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event-driven architecture (AgentChat API). More composable. Both APIs still widely used — know both.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88484" y="749808"/>
            <a:ext cx="5581196" cy="402336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7863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Two-Agent Debate (AutoGen 0.2 API)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88484" y="1152144"/>
            <a:ext cx="5581196" cy="3758184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6500" y="1211580"/>
            <a:ext cx="2886148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autogen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{"config_list":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{"model": "gpt-4o", "api_key": "..."}]}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 = autogen.AssistantAgent(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name="Assistant",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llm_config=config,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system_message="You are a helpful AI. 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"Write Python code to solve tasks."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user_proxy = autogen.UserProxyAgent(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name="User",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human_input_mode="NEVER", # fully auto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code_execution_config={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"work_dir": "coding",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"use_docker": False},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max_consecutive_auto_reply=5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They chat until the task is done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user_proxy.initiate_chat(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assistant,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message="Plot a sine wave and save as plot.png"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71639FF-1DBE-D8CA-9B21-6889B184DDB1}"/>
              </a:ext>
            </a:extLst>
          </p:cNvPr>
          <p:cNvSpPr/>
          <p:nvPr/>
        </p:nvSpPr>
        <p:spPr>
          <a:xfrm>
            <a:off x="6302648" y="1211580"/>
            <a:ext cx="266258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</a:t>
            </a:r>
            <a:r>
              <a:rPr lang="en-US" sz="80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GroupChat</a:t>
            </a: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(3+ agents) ──</a:t>
            </a:r>
            <a:endParaRPr lang="en-US" sz="800" dirty="0"/>
          </a:p>
          <a:p>
            <a:r>
              <a:rPr lang="en-US" sz="80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groupchat</a:t>
            </a: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autogen.GroupChat</a:t>
            </a: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agents=[assistant, critic, </a:t>
            </a:r>
            <a:r>
              <a:rPr lang="en-US" sz="80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user_proxy</a:t>
            </a: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messages=[], max_round=12)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= autogen.GroupChatManager(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groupchat=groupchat, llm_config=config)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user_proxy.initiate_chat(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manager, message="Write and review a PR")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— Role-Based Collaborative Agents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812829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812829" cy="40233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863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People-first metaphor: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" y="1481328"/>
            <a:ext cx="268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= team. Agent = role (Researcher, Writer, Editor). Task = assignment. Natural to model business workflows.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objects: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" y="2139696"/>
            <a:ext cx="268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Task · Tool · Crew. That's it. Very low boilerplate vs LangChain/AutoGen.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 Hierarchical: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" y="2798064"/>
            <a:ext cx="268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process=Process.sequential (pipeline) or Process.hierarchical (manager picks task order dynamically).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3209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tools: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336" y="3456432"/>
            <a:ext cx="268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crewai-tools ships: web search, file read/write, GitHub, Notion, PostgreSQL, Zapier + more out of the box.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caching: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2336" y="4114800"/>
            <a:ext cx="26848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memory, short-term and long-term memory built-in. Task output caching for expensive re-runs.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87149" y="749808"/>
            <a:ext cx="5782530" cy="40233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7863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Research Crew (Python)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87149" y="1152144"/>
            <a:ext cx="5782531" cy="3758184"/>
          </a:xfrm>
          <a:prstGeom prst="rect">
            <a:avLst/>
          </a:prstGeom>
          <a:solidFill>
            <a:srgbClr val="0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86976" y="1207008"/>
            <a:ext cx="271300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 import Agent, Task, Crew, Process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crewai_tools import SerperDevTool</a:t>
            </a:r>
            <a:endParaRPr lang="en-US" sz="790" dirty="0"/>
          </a:p>
          <a:p>
            <a:pPr marL="0" indent="0">
              <a:buNone/>
            </a:pP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= SerperDevTool()  # web search tool</a:t>
            </a:r>
            <a:endParaRPr lang="en-US" sz="790" dirty="0"/>
          </a:p>
          <a:p>
            <a:pPr marL="0" indent="0">
              <a:buNone/>
            </a:pP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 = Agent(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role="Senior Research Analyst",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goal="Find latest info on {topic}",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backstory="Expert at deep research and "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"synthesising complex information.",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tools=[search],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90" dirty="0"/>
          </a:p>
          <a:p>
            <a:pPr marL="0" indent="0">
              <a:buNone/>
            </a:pP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Agent(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role="Tech Content Writer",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goal="Write engaging articles from research",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backstory="Expert at turning raw research "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"into compelling blog posts.",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90" dirty="0"/>
          </a:p>
          <a:p>
            <a:pPr marL="0" indent="0">
              <a:buNone/>
            </a:pP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research_task = Task(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description="Research {topic}. Find 5 key "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"facts with sources.",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expected_output="Bullet list of 5 facts",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agent=researcher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9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4762558-B97F-554C-45D0-4611F8F85722}"/>
              </a:ext>
            </a:extLst>
          </p:cNvPr>
          <p:cNvSpPr/>
          <p:nvPr/>
        </p:nvSpPr>
        <p:spPr>
          <a:xfrm>
            <a:off x="6114733" y="1183239"/>
            <a:ext cx="272866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write_task = Task(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description="Write a 500-word article using "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"the research provided.",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expected_output="Full blog post in markdown",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agent=writer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90" dirty="0"/>
          </a:p>
          <a:p>
            <a:pPr marL="0" indent="0">
              <a:buNone/>
            </a:pP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 = Crew(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agents=[researcher, writer],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tasks=[research_task, write_task],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process=Process.sequential,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crew.kickoff(inputs={"topic": "LangGraph"})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print(result.raw)</a:t>
            </a:r>
            <a:endParaRPr lang="en-US" sz="7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vs AutoGen vs CrewAI — Pick the Right Tool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955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76272" y="79552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720" y="7955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84848" y="795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76272" y="126187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/ graph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126187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84848" y="1261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crew / team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700784"/>
            <a:ext cx="8595360" cy="402336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170078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76272" y="17007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graph nodes &amp; edges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170078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chat initiation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84848" y="17007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— 4 objects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139696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2139696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76272" y="213969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conditional edges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213969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turn order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84848" y="213969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 hierarchical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578608"/>
            <a:ext cx="8595360" cy="402336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25786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76272" y="25786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via tool nodes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57860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via UserProxy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84848" y="25786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tools (not built-in)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30175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76272" y="3017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(SQL/memory)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30175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84848" y="3017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entity + long-term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456432"/>
            <a:ext cx="8595360" cy="402336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34564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76272" y="34564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 node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17720" y="345643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human_input_mode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784848" y="3456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between tasks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895344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7472" y="389534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76272" y="389534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cyclic workflows, fine control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17720" y="389534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auto debugging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84848" y="38953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workflows, content, research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334256"/>
            <a:ext cx="8595360" cy="402336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4334256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176272" y="433425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617720" y="433425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Easy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84848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Easy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4773168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7472" y="477316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176272" y="47731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Yes (LangSmith tracing)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17720" y="477316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Growing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784848" y="47731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Yes (growing ecosystem)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148840" y="749808"/>
            <a:ext cx="0" cy="4224528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90288" y="749808"/>
            <a:ext cx="0" cy="4224528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757416" y="749808"/>
            <a:ext cx="0" cy="4224528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Follow-Along Workshop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IDE. Build in real time.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Follow-Along Workshop — 3 Labs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cloned repo. Each lab is self-contained. Work through starter.py, then check solution.py.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417320" cy="1170432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161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5636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0025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11978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Stateful Research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545336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research agent with checkpointing. The agent searches, summarises, and can be paused for human review before writing the final output.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67728" y="1143000"/>
            <a:ext cx="1901952" cy="1170432"/>
          </a:xfrm>
          <a:prstGeom prst="rect">
            <a:avLst/>
          </a:prstGeom>
          <a:solidFill>
            <a:srgbClr val="F0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0" y="119786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1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0" y="1399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/langgraph_lab/starter.py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State TypedDict with messages + research_notes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441448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441448"/>
            <a:ext cx="1417320" cy="117043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28620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4320" y="3300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0" y="24963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AutoGen: Two-Agent Code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28800" y="2843784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 AssistantAgent (writes Python code) and a CriticAgent (reviews for bugs and style). They debate until both are satisfied.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67728" y="2441448"/>
            <a:ext cx="1901952" cy="1170432"/>
          </a:xfrm>
          <a:prstGeom prst="rect">
            <a:avLst/>
          </a:prstGeom>
          <a:solidFill>
            <a:srgbClr val="F0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24963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40880" y="2697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/autogen_lab/starter.py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30358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AssistantAgent with code-writing system_message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739896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739896"/>
            <a:ext cx="1417320" cy="11704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8130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41605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74320" y="4599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28800" y="37947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CrewAI: Blog Writing Crew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28800" y="4142232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3-agent crew: Researcher, Writer, Editor. Each has a Task. Run sequentially and see the final polished blog post.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67728" y="3739896"/>
            <a:ext cx="1901952" cy="1170432"/>
          </a:xfrm>
          <a:prstGeom prst="rect">
            <a:avLst/>
          </a:prstGeom>
          <a:solidFill>
            <a:srgbClr val="F0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40880" y="3794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0" y="39959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/crewai_lab/starter.py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4334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3 Agents with distinct roles and backstories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Lab 1  ·  15 min  ·  /langgraph_lab/starter.py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Stateful Research Agent with Human-in-the-Loop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95360" cy="749808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where an agent searches → summarises → pauses for your approval → writes final output. Add MemorySaver so it remembers across runs.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596896"/>
            <a:ext cx="274320" cy="274320"/>
          </a:xfrm>
          <a:prstGeom prst="ellipse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56032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State: class State(TypedDict): messages: Annotated[list, operator.add]; draft: str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274320" cy="274320"/>
          </a:xfrm>
          <a:prstGeom prst="ellipse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980944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search_node(state): calls DuckDuckGo tool, appends result to messages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20040" y="3438144"/>
            <a:ext cx="274320" cy="274320"/>
          </a:xfrm>
          <a:prstGeom prst="ellipse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401568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summarise_node(state): asks LLM to summarise messages, stores in state['draft']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274320" cy="274320"/>
          </a:xfrm>
          <a:prstGeom prst="ellipse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822192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conditional edge: after summarise → interrupt → human approves → write_node → END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20040" y="4279392"/>
            <a:ext cx="274320" cy="274320"/>
          </a:xfrm>
          <a:prstGeom prst="ellipse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242816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checkpointer=MemorySaver(). Run with config={"configurable":{"thread_id":"lab1"}}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20040" y="4700016"/>
            <a:ext cx="274320" cy="274320"/>
          </a:xfrm>
          <a:prstGeom prst="ellipse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466344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interrupt, inspect state, approve, and resume — observe the graph continue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E0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Use app.get_state(config) to inspect what's in state at the interrupt point.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Lab 2  ·  15 min  ·  /autogen_lab/starter.py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AutoGen: Two-Agent Code Review Debate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95360" cy="749808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Coder agent and a Critic agent. Coder writes a Python function; Critic finds bugs; they iterate until Critic says LGTM. Track how many rounds it takes.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596896"/>
            <a:ext cx="274320" cy="27432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56032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AssistantAgent 'Coder' with system_message: 'Write clean, tested Python. Fix all issues raised.'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274320" cy="27432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980944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AssistantAgent 'Critic' with system_message: 'Find at least 2 issues per review. Only say LGTM when perfect.'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20040" y="3438144"/>
            <a:ext cx="274320" cy="27432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401568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UserProxyAgent with human_input_mode='NEVER', code_execution_config={'work_dir':'output'}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274320" cy="27432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822192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initiate_chat(coder, message='Write a function to find all prime numbers up to N using a sieve.')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20040" y="4279392"/>
            <a:ext cx="274320" cy="27432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242816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conversation log — how many rounds? Did it catch edge cases like N=0 or N=1?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20040" y="4700016"/>
            <a:ext cx="274320" cy="27432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466344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a 3rd agent 'SecurityReviewer' and use GroupChat + GroupChatManager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E0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Set max_consecutive_auto_reply=8 to prevent runaway. Check the output/ folder for executed code files.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Lab 3  ·  15 min  ·  /crewai_lab/starter.py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CrewAI: Blog Writing Crew (Researcher + Writer + Editor)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95360" cy="749808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agents with distinct roles. Run them as a sequential crew to produce a polished 400-word blog post on a topic of your choice.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596896"/>
            <a:ext cx="274320" cy="27432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56032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researcher Agent: role='Senior Research Analyst', tools=[SerperDevTool()], goal='Find 5 key facts with sources'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274320" cy="27432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980944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writer Agent: role='Tech Writer', goal='Write engaging 400-word article from research'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20040" y="3438144"/>
            <a:ext cx="274320" cy="27432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401568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editor Agent: role='Editor', goal='Fix grammar, improve flow, ensure accuracy'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274320" cy="27432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822192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Tasks with agent= pointing to the right agent, and clear expected_output strings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20040" y="4279392"/>
            <a:ext cx="274320" cy="27432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242816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Crew(agents=[...], tasks=[...], process=Process.sequential, verbose=True)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20040" y="4700016"/>
            <a:ext cx="274320" cy="27432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466344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crew.kickoff(inputs={'topic': 'your topic here'}) — read result.raw. Try Process.hierarchical next!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E0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Set OPENAI_MODEL_NAME=gpt-4o-mini in .env for cheaper runs during the lab. Switch to gpt-4o for final outputs.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&amp; Production Tips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in the real world — and how to fix it.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What Goes Wrong in the Real World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88920" cy="42062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Infinite Loops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Agent keeps calling tools and never terminates. Context fills up, cost explodes.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2633472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Always set max_iterations or max_consecutive_auto_reply. Add a 'done' condition to conditional edges.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200400" y="749808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88920" cy="42062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74980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Cost Runaway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225296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Multi-agent debate with verbose=True and GPT-4o = $$$. Each round = 2–3 API calls.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901952"/>
            <a:ext cx="2633472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9385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Use gpt-4o-mini for non-critical agents. Add token budgets. Cache task outputs in CrewAI.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126480" y="749808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749808"/>
            <a:ext cx="2788920" cy="420624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74980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🤡  Agent Sycophancy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225296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In AutoGen debates, agents agree too quickly. The 'critic' just says 'looks good' after one push-back.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901952"/>
            <a:ext cx="2633472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9385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Add explicit critic system_message: 'Always find at least 2 issues. Never agree on first reply.'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274320" y="2871216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871216"/>
            <a:ext cx="2788920" cy="420624"/>
          </a:xfrm>
          <a:prstGeom prst="rect">
            <a:avLst/>
          </a:prstGeom>
          <a:solidFill>
            <a:srgbClr val="4A1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87121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Tool Permission Sprawl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34670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Agent with write access to filesystem + email + database = catastrophic blast radius on mistakes.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2633472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05993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Principle of least privilege. Only give each agent the exact tools it needs for its role.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200400" y="2871216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2871216"/>
            <a:ext cx="2788920" cy="42062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287121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 State Drift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34670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LangGraph state dict gets mutated incorrectly between nodes — agent acts on stale or wrong data.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4023360"/>
            <a:ext cx="2633472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405993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Use Annotated[list, operator.add] for list fields. Always return full new state from node functions.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126480" y="2871216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2871216"/>
            <a:ext cx="2788920" cy="420624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287121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Observability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334670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Agent fails silently. You don't know which node failed, what prompt was sent, or why it hallucinated.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4023360"/>
            <a:ext cx="2633472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9360" y="4059936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Use LangSmith for LangGraph. Autogen has built-in logging. Add explicit print/logging in every node.</a:t>
            </a:r>
            <a:endParaRPr lang="en-US" sz="9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1371600" cy="36576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agents. 2–3 hours of hands-on work.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Homework — Session 3  (2–3 hours)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things. Bring your output to the next session.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731520"/>
          </a:xfrm>
          <a:prstGeom prst="rect">
            <a:avLst/>
          </a:prstGeom>
          <a:solidFill>
            <a:srgbClr val="12063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~50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LangGraph Lab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43584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3rd node to your Lab 1 agent: a 'fact-check' node that verifies the summary against the search results before finishing. Add a conditional edge that re-searches if fact-check fails.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731520"/>
          </a:xfrm>
          <a:prstGeom prst="rect">
            <a:avLst/>
          </a:prstGeom>
          <a:solidFill>
            <a:srgbClr val="12063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~40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CrewAI Crew for Your Job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084832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run a 3-agent crew that automates a real task from your work: code review, ticket triage, report writing, or interview prep. Share the crew definition and sample output.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52928"/>
            <a:ext cx="8595360" cy="731520"/>
          </a:xfrm>
          <a:prstGeom prst="rect">
            <a:avLst/>
          </a:prstGeom>
          <a:solidFill>
            <a:srgbClr val="12063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8895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~30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Code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AutoGen agent a real algorithmic task (sort a dataset, parse a JSON, build a simple REST call). Observe how many rounds it takes to get working code. Screenshot the chat.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8595360" cy="731520"/>
          </a:xfrm>
          <a:prstGeom prst="rect">
            <a:avLst/>
          </a:prstGeom>
          <a:solidFill>
            <a:srgbClr val="12063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~30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502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+ Document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767328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task (e.g. 'research and summarise LangGraph') in all 3 frameworks. Document: quality, cost (rough token count), time, and ease of debugging. Bring your comparison table.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Deliverable: GitHub repo or zip with your extended agents. Post link in the group by next session.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Session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777240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777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patterns (ReAct, Plan-and-Execute, Reflection) solve different problem shapes — know when to use each.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481328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= explicit graph control. AutoGen = conversational agents. CrewAI = role-based teams. Pick by use case.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" y="22311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2185416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18541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= specialisation + parallelism + peer review. Use when a single agent hits context or quality limits.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" y="2935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2889504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288950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matters: pipeline for sequential transforms, supervisor for dynamic routing, peer-to-peer for quality critique.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" y="3639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4400" y="3593592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5935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guard against infinite loops, cost runaway, and tool permission sprawl — they are the #1 production failures.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" y="4343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4400" y="4297680"/>
            <a:ext cx="7863840" cy="594360"/>
          </a:xfrm>
          <a:prstGeom prst="rect">
            <a:avLst/>
          </a:prstGeom>
          <a:solidFill>
            <a:srgbClr val="1F0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42976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first: LangSmith, verbose logging, and structured state are not optional in production agents.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Complete — Agents &amp; Multi-Agent Systems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438912"/>
          </a:xfrm>
          <a:prstGeom prst="rect">
            <a:avLst/>
          </a:prstGeom>
          <a:solidFill>
            <a:srgbClr val="120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50545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Gen AI ✓  →  S2 Agentic AI ✓  →  S3 Multi-Agent ✓  →  S4 RAG &amp; Memory  →  S5 Production &amp; Evaluation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FB9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linkedin.com/in/pallavrustogi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Extend your agents, build a real-world crew, and compare all 3 frameworks!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4095</Words>
  <Application>Microsoft Macintosh PowerPoint</Application>
  <PresentationFormat>On-screen Show (16:9)</PresentationFormat>
  <Paragraphs>495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Agents &amp; Multi-Agent Systems</dc:title>
  <dc:subject>PptxGenJS Presentation</dc:subject>
  <dc:creator>Pallav Rustogi</dc:creator>
  <cp:lastModifiedBy>pallav Rustogi</cp:lastModifiedBy>
  <cp:revision>2</cp:revision>
  <dcterms:created xsi:type="dcterms:W3CDTF">2026-04-29T14:47:16Z</dcterms:created>
  <dcterms:modified xsi:type="dcterms:W3CDTF">2026-04-29T17:03:53Z</dcterms:modified>
</cp:coreProperties>
</file>