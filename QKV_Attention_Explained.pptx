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Q, K, V of Attention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three little matrices teach a transformer to read.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A2A5C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W_Q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42062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A2A5C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0" y="42062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A2A5C"/>
          </a:solidFill>
          <a:ln w="254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W_V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0664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sentence. A pronoun. And how the model finds meaning.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sentence we will dissect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659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3C4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</a:t>
            </a:r>
            <a:pPr algn="ctr" indent="0" marL="0">
              <a:buNone/>
            </a:pPr>
            <a:r>
              <a:rPr lang="en-US" sz="3000" b="1" i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pPr algn="ctr" indent="0" marL="0">
              <a:buNone/>
            </a:pPr>
            <a:r>
              <a:rPr lang="en-US" sz="3000" i="1" dirty="0">
                <a:solidFill>
                  <a:srgbClr val="3C4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has </a:t>
            </a:r>
            <a:pPr algn="ctr" indent="0" marL="0">
              <a:buNone/>
            </a:pPr>
            <a:r>
              <a:rPr lang="en-US" sz="3000" b="1" i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fever</a:t>
            </a:r>
            <a:pPr algn="ctr" indent="0" marL="0">
              <a:buNone/>
            </a:pPr>
            <a:r>
              <a:rPr lang="en-US" sz="3000" i="1" dirty="0">
                <a:solidFill>
                  <a:srgbClr val="3C4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ctr" indent="0" marL="0">
              <a:buNone/>
            </a:pPr>
            <a:r>
              <a:rPr lang="en-US" sz="3000" b="1" i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cough</a:t>
            </a:r>
            <a:pPr algn="ctr" indent="0" marL="0">
              <a:buNone/>
            </a:pPr>
            <a:r>
              <a:rPr lang="en-US" sz="3000" i="1" dirty="0">
                <a:solidFill>
                  <a:srgbClr val="3C4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algn="ctr" indent="0" marL="0">
              <a:buNone/>
            </a:pPr>
            <a:r>
              <a:rPr lang="en-US" sz="3000" b="1" i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algn="ctr" indent="0" marL="0">
              <a:buNone/>
            </a:pPr>
            <a:r>
              <a:rPr lang="en-US" sz="3000" i="1" dirty="0">
                <a:solidFill>
                  <a:srgbClr val="3C4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could be ___”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“it” refer to?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3337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434840"/>
            <a:ext cx="73152" cy="1691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4636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Searcher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5212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 is a pronoun. It does not know what it means yet. It must look.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4434840"/>
            <a:ext cx="3337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4434840"/>
            <a:ext cx="73152" cy="1691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2080" y="4636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Findables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5212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“patient / fever / cough” are nouns and conditions. They can be referenced.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4434840"/>
            <a:ext cx="3337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4434840"/>
            <a:ext cx="73152" cy="169164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23960" y="4636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Contribution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5212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found, those words must pour their meaning back into “it”.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— one word becomes three vectors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what happens to a single token, “fever”, the instant it enters an attention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645920" cy="1280160"/>
          </a:xfrm>
          <a:prstGeom prst="roundRect">
            <a:avLst>
              <a:gd name="adj" fmla="val 8571"/>
            </a:avLst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88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2788920"/>
            <a:ext cx="91440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286000"/>
            <a:ext cx="1188720" cy="1005840"/>
          </a:xfrm>
          <a:prstGeom prst="rect">
            <a:avLst/>
          </a:prstGeom>
          <a:solidFill>
            <a:srgbClr val="FDECEE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4136" y="2322576"/>
            <a:ext cx="323088" cy="262128"/>
          </a:xfrm>
          <a:prstGeom prst="rect">
            <a:avLst/>
          </a:prstGeom>
          <a:solidFill>
            <a:srgbClr val="E63946">
              <a:alpha val="400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0376" y="2322576"/>
            <a:ext cx="323088" cy="262128"/>
          </a:xfrm>
          <a:prstGeom prst="rect">
            <a:avLst/>
          </a:prstGeom>
          <a:solidFill>
            <a:srgbClr val="E63946">
              <a:alpha val="289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6616" y="2322576"/>
            <a:ext cx="323088" cy="262128"/>
          </a:xfrm>
          <a:prstGeom prst="rect">
            <a:avLst/>
          </a:prstGeom>
          <a:solidFill>
            <a:srgbClr val="E63946">
              <a:alpha val="178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2657856"/>
            <a:ext cx="323088" cy="262128"/>
          </a:xfrm>
          <a:prstGeom prst="rect">
            <a:avLst/>
          </a:prstGeom>
          <a:solidFill>
            <a:srgbClr val="E63946">
              <a:alpha val="367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0376" y="2657856"/>
            <a:ext cx="323088" cy="262128"/>
          </a:xfrm>
          <a:prstGeom prst="rect">
            <a:avLst/>
          </a:prstGeom>
          <a:solidFill>
            <a:srgbClr val="E63946">
              <a:alpha val="256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6616" y="2657856"/>
            <a:ext cx="323088" cy="262128"/>
          </a:xfrm>
          <a:prstGeom prst="rect">
            <a:avLst/>
          </a:prstGeom>
          <a:solidFill>
            <a:srgbClr val="E63946">
              <a:alpha val="145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74136" y="2993136"/>
            <a:ext cx="323088" cy="262128"/>
          </a:xfrm>
          <a:prstGeom prst="rect">
            <a:avLst/>
          </a:prstGeom>
          <a:solidFill>
            <a:srgbClr val="E63946">
              <a:alpha val="334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70376" y="2993136"/>
            <a:ext cx="323088" cy="262128"/>
          </a:xfrm>
          <a:prstGeom prst="rect">
            <a:avLst/>
          </a:prstGeom>
          <a:solidFill>
            <a:srgbClr val="E63946">
              <a:alpha val="223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6616" y="2993136"/>
            <a:ext cx="323088" cy="262128"/>
          </a:xfrm>
          <a:prstGeom prst="rect">
            <a:avLst/>
          </a:prstGeom>
          <a:solidFill>
            <a:srgbClr val="E63946">
              <a:alpha val="112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W_Q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2788920"/>
            <a:ext cx="91440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77840" y="2286000"/>
            <a:ext cx="822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0136" y="2345436"/>
            <a:ext cx="658368" cy="94053"/>
          </a:xfrm>
          <a:prstGeom prst="rect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0136" y="2345436"/>
            <a:ext cx="395021" cy="94053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0136" y="2476065"/>
            <a:ext cx="658368" cy="94053"/>
          </a:xfrm>
          <a:prstGeom prst="rect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0136" y="2476065"/>
            <a:ext cx="592531" cy="94053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0136" y="2606693"/>
            <a:ext cx="658368" cy="94053"/>
          </a:xfrm>
          <a:prstGeom prst="rect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0136" y="2606693"/>
            <a:ext cx="197510" cy="94053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0136" y="2737322"/>
            <a:ext cx="658368" cy="94053"/>
          </a:xfrm>
          <a:prstGeom prst="rect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0136" y="2737322"/>
            <a:ext cx="460858" cy="94053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0136" y="2867950"/>
            <a:ext cx="658368" cy="94053"/>
          </a:xfrm>
          <a:prstGeom prst="rect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0136" y="2867950"/>
            <a:ext cx="329184" cy="94053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0136" y="2998579"/>
            <a:ext cx="658368" cy="94053"/>
          </a:xfrm>
          <a:prstGeom prst="rect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0136" y="2998579"/>
            <a:ext cx="559613" cy="94053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0136" y="3129207"/>
            <a:ext cx="658368" cy="94053"/>
          </a:xfrm>
          <a:prstGeom prst="rect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0136" y="3129207"/>
            <a:ext cx="263347" cy="94053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VECTOR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26700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W_Q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0" y="2944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am I searching for?”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331720" y="4160520"/>
            <a:ext cx="9144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7560" y="3657600"/>
            <a:ext cx="1188720" cy="1005840"/>
          </a:xfrm>
          <a:prstGeom prst="rect">
            <a:avLst/>
          </a:prstGeom>
          <a:solidFill>
            <a:srgbClr val="E5F4F1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74136" y="3694176"/>
            <a:ext cx="323088" cy="262128"/>
          </a:xfrm>
          <a:prstGeom prst="rect">
            <a:avLst/>
          </a:prstGeom>
          <a:solidFill>
            <a:srgbClr val="2A9D8F">
              <a:alpha val="400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70376" y="3694176"/>
            <a:ext cx="323088" cy="262128"/>
          </a:xfrm>
          <a:prstGeom prst="rect">
            <a:avLst/>
          </a:prstGeom>
          <a:solidFill>
            <a:srgbClr val="2A9D8F">
              <a:alpha val="289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66616" y="3694176"/>
            <a:ext cx="323088" cy="262128"/>
          </a:xfrm>
          <a:prstGeom prst="rect">
            <a:avLst/>
          </a:prstGeom>
          <a:solidFill>
            <a:srgbClr val="2A9D8F">
              <a:alpha val="178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74136" y="4029456"/>
            <a:ext cx="323088" cy="262128"/>
          </a:xfrm>
          <a:prstGeom prst="rect">
            <a:avLst/>
          </a:prstGeom>
          <a:solidFill>
            <a:srgbClr val="2A9D8F">
              <a:alpha val="367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70376" y="4029456"/>
            <a:ext cx="323088" cy="262128"/>
          </a:xfrm>
          <a:prstGeom prst="rect">
            <a:avLst/>
          </a:prstGeom>
          <a:solidFill>
            <a:srgbClr val="2A9D8F">
              <a:alpha val="256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66616" y="4029456"/>
            <a:ext cx="323088" cy="262128"/>
          </a:xfrm>
          <a:prstGeom prst="rect">
            <a:avLst/>
          </a:prstGeom>
          <a:solidFill>
            <a:srgbClr val="2A9D8F">
              <a:alpha val="145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74136" y="4364736"/>
            <a:ext cx="323088" cy="262128"/>
          </a:xfrm>
          <a:prstGeom prst="rect">
            <a:avLst/>
          </a:prstGeom>
          <a:solidFill>
            <a:srgbClr val="2A9D8F">
              <a:alpha val="334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70376" y="4364736"/>
            <a:ext cx="323088" cy="262128"/>
          </a:xfrm>
          <a:prstGeom prst="rect">
            <a:avLst/>
          </a:prstGeom>
          <a:solidFill>
            <a:srgbClr val="2A9D8F">
              <a:alpha val="223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6616" y="4364736"/>
            <a:ext cx="323088" cy="262128"/>
          </a:xfrm>
          <a:prstGeom prst="rect">
            <a:avLst/>
          </a:prstGeom>
          <a:solidFill>
            <a:srgbClr val="2A9D8F">
              <a:alpha val="112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7560" y="4709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W_K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0" y="4160520"/>
            <a:ext cx="9144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577840" y="3657600"/>
            <a:ext cx="822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0136" y="3717036"/>
            <a:ext cx="658368" cy="94053"/>
          </a:xfrm>
          <a:prstGeom prst="rect">
            <a:avLst/>
          </a:prstGeom>
          <a:solidFill>
            <a:srgbClr val="E5F4F1"/>
          </a:solidFill>
          <a:ln w="12700">
            <a:solidFill>
              <a:srgbClr val="E5F4F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0136" y="3717036"/>
            <a:ext cx="526694" cy="940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60136" y="3847665"/>
            <a:ext cx="658368" cy="94053"/>
          </a:xfrm>
          <a:prstGeom prst="rect">
            <a:avLst/>
          </a:prstGeom>
          <a:solidFill>
            <a:srgbClr val="E5F4F1"/>
          </a:solidFill>
          <a:ln w="12700">
            <a:solidFill>
              <a:srgbClr val="E5F4F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0136" y="3847665"/>
            <a:ext cx="263347" cy="940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60136" y="3978293"/>
            <a:ext cx="658368" cy="94053"/>
          </a:xfrm>
          <a:prstGeom prst="rect">
            <a:avLst/>
          </a:prstGeom>
          <a:solidFill>
            <a:srgbClr val="E5F4F1"/>
          </a:solidFill>
          <a:ln w="12700">
            <a:solidFill>
              <a:srgbClr val="E5F4F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60136" y="3978293"/>
            <a:ext cx="460858" cy="940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60136" y="4108922"/>
            <a:ext cx="658368" cy="94053"/>
          </a:xfrm>
          <a:prstGeom prst="rect">
            <a:avLst/>
          </a:prstGeom>
          <a:solidFill>
            <a:srgbClr val="E5F4F1"/>
          </a:solidFill>
          <a:ln w="12700">
            <a:solidFill>
              <a:srgbClr val="E5F4F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60136" y="4108922"/>
            <a:ext cx="329184" cy="940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60136" y="4239550"/>
            <a:ext cx="658368" cy="94053"/>
          </a:xfrm>
          <a:prstGeom prst="rect">
            <a:avLst/>
          </a:prstGeom>
          <a:solidFill>
            <a:srgbClr val="E5F4F1"/>
          </a:solidFill>
          <a:ln w="12700">
            <a:solidFill>
              <a:srgbClr val="E5F4F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0136" y="4239550"/>
            <a:ext cx="592531" cy="940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60136" y="4370179"/>
            <a:ext cx="658368" cy="94053"/>
          </a:xfrm>
          <a:prstGeom prst="rect">
            <a:avLst/>
          </a:prstGeom>
          <a:solidFill>
            <a:srgbClr val="E5F4F1"/>
          </a:solidFill>
          <a:ln w="12700">
            <a:solidFill>
              <a:srgbClr val="E5F4F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60136" y="4370179"/>
            <a:ext cx="197510" cy="940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60136" y="4500807"/>
            <a:ext cx="658368" cy="94053"/>
          </a:xfrm>
          <a:prstGeom prst="rect">
            <a:avLst/>
          </a:prstGeom>
          <a:solidFill>
            <a:srgbClr val="E5F4F1"/>
          </a:solidFill>
          <a:ln w="12700">
            <a:solidFill>
              <a:srgbClr val="E5F4F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0136" y="4500807"/>
            <a:ext cx="395021" cy="940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VECTOR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58368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W_K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583680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can I be found for?”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2331720" y="5532120"/>
            <a:ext cx="914400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37560" y="5029200"/>
            <a:ext cx="1188720" cy="1005840"/>
          </a:xfrm>
          <a:prstGeom prst="rect">
            <a:avLst/>
          </a:prstGeom>
          <a:solidFill>
            <a:srgbClr val="FCEFD7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74136" y="5065776"/>
            <a:ext cx="323088" cy="262128"/>
          </a:xfrm>
          <a:prstGeom prst="rect">
            <a:avLst/>
          </a:prstGeom>
          <a:solidFill>
            <a:srgbClr val="E9A23B">
              <a:alpha val="400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70376" y="5065776"/>
            <a:ext cx="323088" cy="262128"/>
          </a:xfrm>
          <a:prstGeom prst="rect">
            <a:avLst/>
          </a:prstGeom>
          <a:solidFill>
            <a:srgbClr val="E9A23B">
              <a:alpha val="289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66616" y="5065776"/>
            <a:ext cx="323088" cy="262128"/>
          </a:xfrm>
          <a:prstGeom prst="rect">
            <a:avLst/>
          </a:prstGeom>
          <a:solidFill>
            <a:srgbClr val="E9A23B">
              <a:alpha val="178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74136" y="5401056"/>
            <a:ext cx="323088" cy="262128"/>
          </a:xfrm>
          <a:prstGeom prst="rect">
            <a:avLst/>
          </a:prstGeom>
          <a:solidFill>
            <a:srgbClr val="E9A23B">
              <a:alpha val="367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70376" y="5401056"/>
            <a:ext cx="323088" cy="262128"/>
          </a:xfrm>
          <a:prstGeom prst="rect">
            <a:avLst/>
          </a:prstGeom>
          <a:solidFill>
            <a:srgbClr val="E9A23B">
              <a:alpha val="256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66616" y="5401056"/>
            <a:ext cx="323088" cy="262128"/>
          </a:xfrm>
          <a:prstGeom prst="rect">
            <a:avLst/>
          </a:prstGeom>
          <a:solidFill>
            <a:srgbClr val="E9A23B">
              <a:alpha val="145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74136" y="5736336"/>
            <a:ext cx="323088" cy="262128"/>
          </a:xfrm>
          <a:prstGeom prst="rect">
            <a:avLst/>
          </a:prstGeom>
          <a:solidFill>
            <a:srgbClr val="E9A23B">
              <a:alpha val="334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70376" y="5736336"/>
            <a:ext cx="323088" cy="262128"/>
          </a:xfrm>
          <a:prstGeom prst="rect">
            <a:avLst/>
          </a:prstGeom>
          <a:solidFill>
            <a:srgbClr val="E9A23B">
              <a:alpha val="223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66616" y="5736336"/>
            <a:ext cx="323088" cy="262128"/>
          </a:xfrm>
          <a:prstGeom prst="rect">
            <a:avLst/>
          </a:prstGeom>
          <a:solidFill>
            <a:srgbClr val="E9A23B">
              <a:alpha val="11200"/>
            </a:srgbClr>
          </a:solidFill>
          <a:ln w="12700">
            <a:solidFill>
              <a:srgbClr val="E9A23B">
                <a:alpha val="2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37560" y="6080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W_V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572000" y="5532120"/>
            <a:ext cx="914400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94960" y="5303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5577840" y="5029200"/>
            <a:ext cx="822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60136" y="5088636"/>
            <a:ext cx="658368" cy="94053"/>
          </a:xfrm>
          <a:prstGeom prst="rect">
            <a:avLst/>
          </a:prstGeom>
          <a:solidFill>
            <a:srgbClr val="FCEFD7"/>
          </a:solidFill>
          <a:ln w="12700">
            <a:solidFill>
              <a:srgbClr val="FCEFD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60136" y="5088636"/>
            <a:ext cx="329184" cy="94053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660136" y="5219265"/>
            <a:ext cx="658368" cy="94053"/>
          </a:xfrm>
          <a:prstGeom prst="rect">
            <a:avLst/>
          </a:prstGeom>
          <a:solidFill>
            <a:srgbClr val="FCEFD7"/>
          </a:solidFill>
          <a:ln w="12700">
            <a:solidFill>
              <a:srgbClr val="FCEFD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60136" y="5219265"/>
            <a:ext cx="460858" cy="94053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60136" y="5349893"/>
            <a:ext cx="658368" cy="94053"/>
          </a:xfrm>
          <a:prstGeom prst="rect">
            <a:avLst/>
          </a:prstGeom>
          <a:solidFill>
            <a:srgbClr val="FCEFD7"/>
          </a:solidFill>
          <a:ln w="12700">
            <a:solidFill>
              <a:srgbClr val="FCEFD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0136" y="5349893"/>
            <a:ext cx="526694" cy="94053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660136" y="5480522"/>
            <a:ext cx="658368" cy="94053"/>
          </a:xfrm>
          <a:prstGeom prst="rect">
            <a:avLst/>
          </a:prstGeom>
          <a:solidFill>
            <a:srgbClr val="FCEFD7"/>
          </a:solidFill>
          <a:ln w="12700">
            <a:solidFill>
              <a:srgbClr val="FCEFD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660136" y="5480522"/>
            <a:ext cx="395021" cy="94053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660136" y="5611150"/>
            <a:ext cx="658368" cy="94053"/>
          </a:xfrm>
          <a:prstGeom prst="rect">
            <a:avLst/>
          </a:prstGeom>
          <a:solidFill>
            <a:srgbClr val="FCEFD7"/>
          </a:solidFill>
          <a:ln w="12700">
            <a:solidFill>
              <a:srgbClr val="FCEFD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660136" y="5611150"/>
            <a:ext cx="263347" cy="94053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660136" y="5741779"/>
            <a:ext cx="658368" cy="94053"/>
          </a:xfrm>
          <a:prstGeom prst="rect">
            <a:avLst/>
          </a:prstGeom>
          <a:solidFill>
            <a:srgbClr val="FCEFD7"/>
          </a:solidFill>
          <a:ln w="12700">
            <a:solidFill>
              <a:srgbClr val="FCEFD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660136" y="5741779"/>
            <a:ext cx="460858" cy="94053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60136" y="5872407"/>
            <a:ext cx="658368" cy="94053"/>
          </a:xfrm>
          <a:prstGeom prst="rect">
            <a:avLst/>
          </a:prstGeom>
          <a:solidFill>
            <a:srgbClr val="FCEFD7"/>
          </a:solidFill>
          <a:ln w="12700">
            <a:solidFill>
              <a:srgbClr val="FCEFD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660136" y="5872407"/>
            <a:ext cx="592531" cy="94053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83680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VECTOR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6583680" y="5413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W_V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6583680" y="5687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is my actual content?”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320040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GATE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544068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VECTOR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658368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W_Q  —  the “I am searching for…”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822960" cy="347472"/>
          </a:xfrm>
          <a:prstGeom prst="roundRect">
            <a:avLst>
              <a:gd name="adj" fmla="val 4736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it_vector  ×  W_Q  =  query vector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3291840"/>
            <a:ext cx="493776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query vector is actually saying: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am an ambiguous pronoun. I am searching for my referent — the noun I replace. Give me something concrete.”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349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W_Q learned this from training: every time “it” appeared, the correct next words depended on finding what “it” referred 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DECEE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2743200"/>
            <a:ext cx="1280160" cy="1280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138160" y="3383280"/>
            <a:ext cx="548640" cy="-868680"/>
          </a:xfrm>
          <a:prstGeom prst="line">
            <a:avLst/>
          </a:prstGeom>
          <a:noFill/>
          <a:ln w="19050">
            <a:solidFill>
              <a:srgbClr val="E6394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5039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1371600" cy="-228600"/>
          </a:xfrm>
          <a:prstGeom prst="line">
            <a:avLst/>
          </a:prstGeom>
          <a:noFill/>
          <a:ln w="19050">
            <a:solidFill>
              <a:srgbClr val="E6394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3268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138160" y="3383280"/>
            <a:ext cx="1645920" cy="777240"/>
          </a:xfrm>
          <a:prstGeom prst="line">
            <a:avLst/>
          </a:prstGeom>
          <a:noFill/>
          <a:ln w="19050">
            <a:solidFill>
              <a:srgbClr val="E6394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601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8138160" y="3383280"/>
            <a:ext cx="822960" cy="1508760"/>
          </a:xfrm>
          <a:prstGeom prst="line">
            <a:avLst/>
          </a:prstGeom>
          <a:noFill/>
          <a:ln w="19050">
            <a:solidFill>
              <a:srgbClr val="E6394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7782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8368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 broadcasts a searching signal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W_K  —  the “I can be found”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W_K turns every word into a key vector — a little advertisement of what kind of thing it is and what it can be matched against.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0515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91440" cy="1051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651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5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25786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patient_vector  ×  W_K  =  key vector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· REFERENT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4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am a noun, a referent — findable.”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10515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03320"/>
            <a:ext cx="91440" cy="1051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8862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5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886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0" y="3813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fever_vector  ×  W_K  =  key vector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· SYMPTOM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4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am a condition — findable as a symptom.”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937760"/>
            <a:ext cx="10515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937760"/>
            <a:ext cx="91440" cy="1051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1206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5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cough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50474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cough_vector  ×  W_K  =  key vector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5440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· SYMPTOM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5120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4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am a condition — findable as a symptom.”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conditions are the kinds of words pronouns tend to refer to — so W_K shaped itself to broadcast exactly that signal.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· Key  →  attention scores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dot product of “it”’s query with every word’s key. The numbers are the model’s answer to: who should “it” pay attention to?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10515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97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it_Q  ·  patient_K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0" y="2697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2715768"/>
            <a:ext cx="1280160" cy="365760"/>
          </a:xfrm>
          <a:prstGeom prst="roundRect">
            <a:avLst>
              <a:gd name="adj" fmla="val 45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2715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2807208"/>
            <a:ext cx="4023360" cy="164592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2807208"/>
            <a:ext cx="292608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29900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found a noun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319272"/>
            <a:ext cx="10515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107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it_Q  ·  fever_K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341071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3429000"/>
            <a:ext cx="1280160" cy="365760"/>
          </a:xfrm>
          <a:prstGeom prst="roundRect">
            <a:avLst>
              <a:gd name="adj" fmla="val 45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3520440"/>
            <a:ext cx="4023360" cy="164592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520440"/>
            <a:ext cx="292608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7033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found a condition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032504"/>
            <a:ext cx="10515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1239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it_Q  ·  cough_K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41239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0" y="4142232"/>
            <a:ext cx="1280160" cy="365760"/>
          </a:xfrm>
          <a:prstGeom prst="roundRect">
            <a:avLst>
              <a:gd name="adj" fmla="val 45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41422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4233672"/>
            <a:ext cx="4023360" cy="164592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4233672"/>
            <a:ext cx="292608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44165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found a condition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4745736"/>
            <a:ext cx="10515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48371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it_Q  ·  and_K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03520" y="483717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69280" y="4855464"/>
            <a:ext cx="1280160" cy="365760"/>
          </a:xfrm>
          <a:prstGeom prst="roundRect">
            <a:avLst>
              <a:gd name="adj" fmla="val 45000"/>
            </a:avLst>
          </a:prstGeom>
          <a:solidFill>
            <a:srgbClr val="E5E7EB"/>
          </a:solidFill>
          <a:ln w="12700">
            <a:solidFill>
              <a:srgbClr val="CBD2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48554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32320" y="4946904"/>
            <a:ext cx="4023360" cy="164592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4946904"/>
            <a:ext cx="45720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51297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ignores connectors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" y="571500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DEC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571500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programmed these scores. W_Q and W_K shaped themselves through billions of training corrections until this pattern emerged.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pattern — the heat-map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dot product for every (query, key) pair in the sentence. Plot the scores as a grid. This is what “attention” literally looks like.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2194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 (what is attended to)  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54480" y="2606040"/>
            <a:ext cx="502920" cy="502920"/>
          </a:xfrm>
          <a:prstGeom prst="rect">
            <a:avLst/>
          </a:prstGeom>
          <a:solidFill>
            <a:srgbClr val="2A9D8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57400" y="2606040"/>
            <a:ext cx="502920" cy="502920"/>
          </a:xfrm>
          <a:prstGeom prst="rect">
            <a:avLst/>
          </a:prstGeom>
          <a:solidFill>
            <a:srgbClr val="2A9D8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260604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63240" y="260604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69080" y="260604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60604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310896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57400" y="3108960"/>
            <a:ext cx="502920" cy="502920"/>
          </a:xfrm>
          <a:prstGeom prst="rect">
            <a:avLst/>
          </a:prstGeom>
          <a:solidFill>
            <a:srgbClr val="2A9D8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0" y="310896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63240" y="3108960"/>
            <a:ext cx="502920" cy="502920"/>
          </a:xfrm>
          <a:prstGeom prst="rect">
            <a:avLst/>
          </a:prstGeom>
          <a:solidFill>
            <a:srgbClr val="2A9D8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66160" y="310896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69080" y="310896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69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310896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361188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57400" y="3611880"/>
            <a:ext cx="502920" cy="502920"/>
          </a:xfrm>
          <a:prstGeom prst="rect">
            <a:avLst/>
          </a:prstGeom>
          <a:solidFill>
            <a:srgbClr val="2A9D8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560320" y="3611880"/>
            <a:ext cx="502920" cy="502920"/>
          </a:xfrm>
          <a:prstGeom prst="rect">
            <a:avLst/>
          </a:prstGeom>
          <a:solidFill>
            <a:srgbClr val="2A9D8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063240" y="3611880"/>
            <a:ext cx="502920" cy="502920"/>
          </a:xfrm>
          <a:prstGeom prst="rect">
            <a:avLst/>
          </a:prstGeom>
          <a:solidFill>
            <a:srgbClr val="2A9D8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63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566160" y="361188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069080" y="3611880"/>
            <a:ext cx="502920" cy="502920"/>
          </a:xfrm>
          <a:prstGeom prst="rect">
            <a:avLst/>
          </a:prstGeom>
          <a:solidFill>
            <a:srgbClr val="2A9D8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69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0" y="361188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411480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057400" y="4114800"/>
            <a:ext cx="502920" cy="502920"/>
          </a:xfrm>
          <a:prstGeom prst="rect">
            <a:avLst/>
          </a:prstGeom>
          <a:solidFill>
            <a:srgbClr val="2A9D8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574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560320" y="411480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063240" y="4114800"/>
            <a:ext cx="502920" cy="502920"/>
          </a:xfrm>
          <a:prstGeom prst="rect">
            <a:avLst/>
          </a:prstGeom>
          <a:solidFill>
            <a:srgbClr val="2A9D8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63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566160" y="411480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661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069080" y="4114800"/>
            <a:ext cx="502920" cy="502920"/>
          </a:xfrm>
          <a:prstGeom prst="rect">
            <a:avLst/>
          </a:prstGeom>
          <a:solidFill>
            <a:srgbClr val="2A9D8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69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0" y="411480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461772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057400" y="461772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05740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560320" y="461772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603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063240" y="4617720"/>
            <a:ext cx="502920" cy="502920"/>
          </a:xfrm>
          <a:prstGeom prst="rect">
            <a:avLst/>
          </a:prstGeom>
          <a:solidFill>
            <a:srgbClr val="2A9D8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632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566160" y="461772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5661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069080" y="4617720"/>
            <a:ext cx="502920" cy="502920"/>
          </a:xfrm>
          <a:prstGeom prst="rect">
            <a:avLst/>
          </a:prstGeom>
          <a:solidFill>
            <a:srgbClr val="2A9D8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69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572000" y="4617720"/>
            <a:ext cx="502920" cy="502920"/>
          </a:xfrm>
          <a:prstGeom prst="rect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512064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057400" y="5120640"/>
            <a:ext cx="502920" cy="502920"/>
          </a:xfrm>
          <a:prstGeom prst="rect">
            <a:avLst/>
          </a:prstGeom>
          <a:solidFill>
            <a:srgbClr val="2A9D8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05740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560320" y="512064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6032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063240" y="5120640"/>
            <a:ext cx="502920" cy="502920"/>
          </a:xfrm>
          <a:prstGeom prst="rect">
            <a:avLst/>
          </a:prstGeom>
          <a:solidFill>
            <a:srgbClr val="2A9D8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0632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566160" y="512064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6616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069080" y="5120640"/>
            <a:ext cx="502920" cy="502920"/>
          </a:xfrm>
          <a:prstGeom prst="rect">
            <a:avLst/>
          </a:prstGeom>
          <a:solidFill>
            <a:srgbClr val="2A9D8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69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572000" y="5120640"/>
            <a:ext cx="502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5623560"/>
            <a:ext cx="502920" cy="502920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057400" y="5623560"/>
            <a:ext cx="502920" cy="502920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05740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560320" y="5623560"/>
            <a:ext cx="502920" cy="502920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56032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063240" y="5623560"/>
            <a:ext cx="502920" cy="502920"/>
          </a:xfrm>
          <a:prstGeom prst="rect">
            <a:avLst/>
          </a:prstGeom>
          <a:solidFill>
            <a:srgbClr val="E63946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0632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566160" y="5623560"/>
            <a:ext cx="502920" cy="502920"/>
          </a:xfrm>
          <a:prstGeom prst="rect">
            <a:avLst/>
          </a:prstGeom>
          <a:solidFill>
            <a:srgbClr val="E63946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56616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069080" y="5623560"/>
            <a:ext cx="502920" cy="502920"/>
          </a:xfrm>
          <a:prstGeom prst="rect">
            <a:avLst/>
          </a:prstGeom>
          <a:solidFill>
            <a:srgbClr val="E63946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06908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572000" y="5623560"/>
            <a:ext cx="502920" cy="502920"/>
          </a:xfrm>
          <a:prstGeom prst="rect">
            <a:avLst/>
          </a:prstGeom>
          <a:solidFill>
            <a:srgbClr val="E63946">
              <a:alpha val="1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7200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536192" y="5605272"/>
            <a:ext cx="3557016" cy="53949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32120" y="260604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76072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 =  MORE ATTENTION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5760720" y="3063240"/>
            <a:ext cx="384048" cy="201168"/>
          </a:xfrm>
          <a:prstGeom prst="rect">
            <a:avLst/>
          </a:prstGeom>
          <a:solidFill>
            <a:srgbClr val="2A9D8F">
              <a:alpha val="10000"/>
            </a:srgbClr>
          </a:solidFill>
          <a:ln w="12700">
            <a:solidFill>
              <a:srgbClr val="2A9D8F">
                <a:alpha val="1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72200" y="3063240"/>
            <a:ext cx="384048" cy="201168"/>
          </a:xfrm>
          <a:prstGeom prst="rect">
            <a:avLst/>
          </a:prstGeom>
          <a:solidFill>
            <a:srgbClr val="2A9D8F">
              <a:alpha val="30000"/>
            </a:srgbClr>
          </a:solidFill>
          <a:ln w="12700">
            <a:solidFill>
              <a:srgbClr val="2A9D8F">
                <a:alpha val="3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583680" y="3063240"/>
            <a:ext cx="384048" cy="201168"/>
          </a:xfrm>
          <a:prstGeom prst="rect">
            <a:avLst/>
          </a:prstGeom>
          <a:solidFill>
            <a:srgbClr val="2A9D8F">
              <a:alpha val="50000"/>
            </a:srgbClr>
          </a:solidFill>
          <a:ln w="12700">
            <a:solidFill>
              <a:srgbClr val="2A9D8F">
                <a:alpha val="5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995160" y="3063240"/>
            <a:ext cx="384048" cy="201168"/>
          </a:xfrm>
          <a:prstGeom prst="rect">
            <a:avLst/>
          </a:prstGeom>
          <a:solidFill>
            <a:srgbClr val="2A9D8F">
              <a:alpha val="70000"/>
            </a:srgbClr>
          </a:solidFill>
          <a:ln w="12700">
            <a:solidFill>
              <a:srgbClr val="2A9D8F">
                <a:alpha val="7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06640" y="3063240"/>
            <a:ext cx="384048" cy="201168"/>
          </a:xfrm>
          <a:prstGeom prst="rect">
            <a:avLst/>
          </a:prstGeom>
          <a:solidFill>
            <a:srgbClr val="2A9D8F">
              <a:alpha val="90000"/>
            </a:srgbClr>
          </a:solidFill>
          <a:ln w="12700">
            <a:solidFill>
              <a:srgbClr val="2A9D8F">
                <a:alpha val="9000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715000" y="3282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7223760" y="3282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5760720" y="3657600"/>
            <a:ext cx="365760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7607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OF “It”</a:t>
            </a:r>
            <a:endParaRPr lang="en-US" sz="1100" dirty="0"/>
          </a:p>
        </p:txBody>
      </p:sp>
      <p:sp>
        <p:nvSpPr>
          <p:cNvPr id="131" name="Text 129"/>
          <p:cNvSpPr/>
          <p:nvPr/>
        </p:nvSpPr>
        <p:spPr>
          <a:xfrm>
            <a:off x="576072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at the bottom row. Three cells are dark — under patient, fever, and cough.</a:t>
            </a:r>
            <a:endParaRPr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5760720" y="4892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model deciding, on its own, who “It” refers to. No labels, no rules — just learned dot products.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W_V  —  the “what I actually mean”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822960" cy="347472"/>
          </a:xfrm>
          <a:prstGeom prst="roundRect">
            <a:avLst>
              <a:gd name="adj" fmla="val 4736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fever_vector  ×  W_V  =  value vector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3291840"/>
            <a:ext cx="493776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carries: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“Here is my full medical meaning — elevated temperature, illness signal, symptom of infection — ready to be poured into whoever attends to me.”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“it” attends to fever, this value gets blended in. That is how “it” becomes contextual.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CEFD7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6060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06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illness · symptom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3017520"/>
            <a:ext cx="1005840" cy="0"/>
          </a:xfrm>
          <a:prstGeom prst="line">
            <a:avLst/>
          </a:prstGeom>
          <a:noFill/>
          <a:ln w="381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58400" y="2606040"/>
            <a:ext cx="1005840" cy="8229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26060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583680" y="411480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attention, “it” effectively carries: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4526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pronoun + the meaning of fever, patient, and cough.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three matrices and not one?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same word has to play different roles at the same time. Take “fever”: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E5F4F1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KEY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3794760"/>
            <a:ext cx="452628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9319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am findable. I am a symptom. Pronouns and diagnostic words should look at me.”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46888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FCEFD7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3796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3794760"/>
            <a:ext cx="4526280" cy="0"/>
          </a:xfrm>
          <a:prstGeom prst="line">
            <a:avLst/>
          </a:prstGeom>
          <a:noFill/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9319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“Here is my full medical meaning — temperature elevation, illness signal, everything.”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3611880"/>
            <a:ext cx="685800" cy="68580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544068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57607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used the raw embedding for both, we could not separate the roles. W_K and W_V let the model learn completely independent transformations — and W_Q lets each word search independently of how it is found.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Multi-head attention — many sets of Q, K, 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models do not have one set. GPT-2 has 12. Large models have up to 96. Each set is a “head”, and each head specialises on a different kind of relationship.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2505456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8892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W_Q1, W_K1, W_V1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grammar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93008" y="2606040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2606040"/>
            <a:ext cx="2505456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78892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0168" y="3063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W_Q2, W_K2, W_V2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30168" y="33375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coreference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63056" y="2606040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2606040"/>
            <a:ext cx="2505456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78892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0216" y="3063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W_Q3, W_K3, W_V3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0216" y="33375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relations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33104" y="2606040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33104" y="2606040"/>
            <a:ext cx="2505456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0264" y="278892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70264" y="3063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W_Q4, W_K4, W_V4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70264" y="33375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3697224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697224"/>
            <a:ext cx="2505456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880104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415442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W_Q5, W_K5, W_V5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" y="442874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93008" y="3697224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3697224"/>
            <a:ext cx="2505456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3880104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30168" y="415442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W_Q6, W_K6, W_V6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30168" y="442874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63056" y="3697224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3697224"/>
            <a:ext cx="2505456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3880104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0216" y="415442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W_Q7, W_K7, W_V7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0216" y="442874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 ↔ verb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833104" y="3697224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33104" y="3697224"/>
            <a:ext cx="2505456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70264" y="3880104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970264" y="415442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W_Q8, W_K8, W_V8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70264" y="442874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long-range deps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2960" y="4788408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4788408"/>
            <a:ext cx="2505456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97128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60120" y="52456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W_Q9, W_K9, W_V9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60120" y="55199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entities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493008" y="4788408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93008" y="4788408"/>
            <a:ext cx="2505456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30168" y="497128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30168" y="52456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W_Q10, W_K10, W_V10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30168" y="55199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punctuation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163056" y="4788408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63056" y="4788408"/>
            <a:ext cx="2505456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0216" y="497128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00216" y="52456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W_Q11, W_K11, W_V11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300216" y="55199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shift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833104" y="4788408"/>
            <a:ext cx="2505456" cy="92659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33104" y="4788408"/>
            <a:ext cx="2505456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70264" y="497128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970264" y="52456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W_Q12, W_K12, W_V12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970264" y="55199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rare words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22960" y="585216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DEC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" y="58521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assigned these roles. Each head spontaneously specialised during training — because diverse focuses collectively predicted next tokens better.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W_Q, W_K, W_V get their personalities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in billions of sentences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2697480"/>
            <a:ext cx="292608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88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Wikipedia, books, code, the open web.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predicts the next word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17720" y="2697480"/>
            <a:ext cx="292608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788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weights are in place produce a guess.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205740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239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guess to truth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83880" y="2697480"/>
            <a:ext cx="292608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788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wrong, compute a loss — a measurement of how wrong.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84048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51560" y="406908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Backpropagate the error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1560" y="4709160"/>
            <a:ext cx="292608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every weight, including W_Q, W_K, W_V, slightly.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0" y="384048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406908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— billions of times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17720" y="4709160"/>
            <a:ext cx="292608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crystallise. The matrices form their roles.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0" y="384048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83880" y="406908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2396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the weights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83880" y="4709160"/>
            <a:ext cx="292608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ends. W_Q, W_K, W_V are now fixed forever.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585216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58521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W_Q learns </a:t>
            </a:r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am I searching for”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W_K learns </a:t>
            </a:r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can I be found for”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W_V learns </a:t>
            </a:r>
            <a:pPr indent="0" marL="0">
              <a:buNone/>
            </a:pPr>
            <a:r>
              <a:rPr lang="en-US" sz="120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my actual content”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when you chat — inference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1737360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737360"/>
            <a:ext cx="91440" cy="566928"/>
          </a:xfrm>
          <a:prstGeom prst="rect">
            <a:avLst/>
          </a:prstGeom>
          <a:solidFill>
            <a:srgbClr val="3C4A78"/>
          </a:solidFill>
          <a:ln w="12700">
            <a:solidFill>
              <a:srgbClr val="3C4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06040" y="173736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sentence comes 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2395728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395728"/>
            <a:ext cx="9144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395728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word  ×  W_Q  →  query vector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916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3054096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3054096"/>
            <a:ext cx="91440" cy="5669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05409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word  ×  W_K  →  key vector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35753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3712464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3712464"/>
            <a:ext cx="91440" cy="566928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371246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word  ×  W_V  →  value vector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4233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4370832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370832"/>
            <a:ext cx="91440" cy="566928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437083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 · Keys  →  attention scores  →  softmax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5029200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5029200"/>
            <a:ext cx="91440" cy="566928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50292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sum of Values  →  new contextual vector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058400" y="1737360"/>
            <a:ext cx="1280160" cy="3950208"/>
          </a:xfrm>
          <a:prstGeom prst="roundRect">
            <a:avLst>
              <a:gd name="adj" fmla="val 5714"/>
            </a:avLst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1737360"/>
            <a:ext cx="128016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matrices are frozen. Only the inputs change. The same W_Q, W_K, W_V handle every sentence you ever type.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E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Engine of Attention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ONE-SLIDE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matrices, three jobs.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A2A5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130552"/>
            <a:ext cx="822960" cy="8229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031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am I searching for?”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03120" y="28346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W_Q turns a word into a query — a request broadcast across the sentence.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A2A5C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456432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564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1031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can I be found for?”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120" y="41605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W_K turns a word into a key — an advertisement of what it offers.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61772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A2A5C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782312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82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10312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5120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do I actually contribute?”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03120" y="54864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W_V turns a word into a value — the meaning that gets blended in when matched.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is just three different ways of looking at the same word — and a dot product between two of them.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Q, K, V — How Attention Really Works</dc:title>
  <dc:subject>PptxGenJS Presentation</dc:subject>
  <dc:creator>Akash</dc:creator>
  <cp:lastModifiedBy>Akash</cp:lastModifiedBy>
  <cp:revision>1</cp:revision>
  <dcterms:created xsi:type="dcterms:W3CDTF">2026-05-18T05:07:23Z</dcterms:created>
  <dcterms:modified xsi:type="dcterms:W3CDTF">2026-05-18T05:07:23Z</dcterms:modified>
</cp:coreProperties>
</file>