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809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286000" cy="45720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2 Hours  ·  Includes Hands-On Exercises + Live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Pallav Rustogi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@ Microsoft  ·  linkedin.com/in/pallavrustogi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773168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What is Agentic AI? (35 min)  ·  PART 2: Architecture &amp; Tools (35 min)  ·  PART 3: Build &amp; Exercises (50 min)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Agenda — 2 Hours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91440" cy="71323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Icebreaker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8686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recap. Poll: 'What would you automate if you had an AI assistant?'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91440" cy="713232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– 0:45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892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What is Agentic AI?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70992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vs Agentic AI. The Perceive → Reason → Act → Learn loop. Real-world examples.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59736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91440" cy="71323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– 1:20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34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Architecture &amp; Tools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55117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components. LangChain + OpenAI APIs in code. DSPy (programmatic prompting). PromptFoo (prompt testing). Live demo.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00984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300984"/>
            <a:ext cx="91440" cy="71323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355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 – 1:50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5753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Build It! Exercises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39242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hands-on exercises: design an agent, trace an agent loop, prompt an agent.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42232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142232"/>
            <a:ext cx="91440" cy="713232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197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– 2:00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416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+ Homework Brief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423367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trends, key takeaways, homework walkthrough, Q&amp;A.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AI?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chatbots — AI that perceives, plans, acts, and learns.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vs. Agentic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77640" cy="4114800"/>
          </a:xfrm>
          <a:prstGeom prst="rect">
            <a:avLst/>
          </a:prstGeom>
          <a:solidFill>
            <a:srgbClr val="F0EE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77640" cy="502920"/>
          </a:xfrm>
          <a:prstGeom prst="rect">
            <a:avLst/>
          </a:prstGeom>
          <a:solidFill>
            <a:srgbClr val="4A3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— responds to direct inputs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task at a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5973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step-by-step human instruction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sessions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021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use external tools or APIs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Siri, spam filters, image classifiers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777240"/>
            <a:ext cx="429768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97680" cy="502920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8046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14173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— sets and pursues goals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193852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planning &amp; execution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45973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autonomously within guardrails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9809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across interactions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tools: search, code, APIs, email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40233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GitHub Copilot, AutoGPT, CrewAI agents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AI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1828800"/>
          </a:xfrm>
          <a:prstGeom prst="rect">
            <a:avLst/>
          </a:prstGeom>
          <a:solidFill>
            <a:srgbClr val="4A1FA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PERCEIVE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information from its environment — APIs, databases, user input, sensors. Understands current state.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804672"/>
            <a:ext cx="4023360" cy="1828800"/>
          </a:xfrm>
          <a:prstGeom prst="rect">
            <a:avLst/>
          </a:prstGeom>
          <a:solidFill>
            <a:srgbClr val="7B3FE4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8961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07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REASON &amp; PLAN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810512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brain decomposes the goal into subtasks, selects tools, and creates an action plan.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16352"/>
            <a:ext cx="4023360" cy="182880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07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19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LEARN &amp; ADAPT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822192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outcomes, adjusts future behavior, re-plans if results don't match expectations.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816352"/>
            <a:ext cx="4023360" cy="1828800"/>
          </a:xfrm>
          <a:prstGeom prst="rect">
            <a:avLst/>
          </a:prstGeom>
          <a:solidFill>
            <a:srgbClr val="4A1FA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907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19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ACT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37760" y="3822192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9136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plan using tools: writes code, calls APIs, sends emails, fills forms, searches the web.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07408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29400" y="26700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407408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148840" y="26700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an AI 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Brain (LLM)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engine. Understands context, plans steps, decides what to do next. e.g. GPT-4o, Claude 3.5, Gemini.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2112" y="7772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82112" y="777240"/>
            <a:ext cx="2743200" cy="50292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73552" y="777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73552" y="137160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capabilities: web search, code execution, email APIs, databases, calculators. Expands what the agent can 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9904" y="7772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9904" y="777240"/>
            <a:ext cx="2743200" cy="5029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81344" y="777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Memory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1344" y="137160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(context window) + Long-term (vector DB like FAISS/ChromaDB). Lets agent remember across sessions.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743200" cy="502920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Planner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high-level goal into executable subtasks. May use frameworks like ReAct, Chain-of-Thought, or Tree-of-Thought.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82112" y="28803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82112" y="2880360"/>
            <a:ext cx="2743200" cy="50292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73552" y="2880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Human-in-Loop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73552" y="34747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checkpoints where human approves before irreversible actions. Balances autonomy with safety.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9904" y="28803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9904" y="2880360"/>
            <a:ext cx="2743200" cy="50292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81344" y="2880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Observability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81344" y="34747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monitoring, and audit trails so you can debug agent behavior. Critical for enterprise deployments.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Agentic AI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Acceleration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5176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51760" y="1097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Resolution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Qualified Leads (Sales)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4088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097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Experimenting with Agents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2788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508760"/>
            <a:ext cx="73152" cy="1600200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Customer Service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2286000" cy="27432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agents handle 1000s of messages/hour with 80–90% resolution — no human needed for most queries.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508760"/>
            <a:ext cx="2788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508760"/>
            <a:ext cx="73152" cy="16002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IT Helpdesk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2011680"/>
            <a:ext cx="2286000" cy="2743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agents: password resets, access requests, device onboarding — resolved without tickets.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508760"/>
            <a:ext cx="2788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1508760"/>
            <a:ext cx="73152" cy="1600200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Sales &amp; Marketing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2011680"/>
            <a:ext cx="2286000" cy="27432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research, personalised outreach, lead qualification — 5× more qualified leads reported.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46120"/>
            <a:ext cx="2788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246120"/>
            <a:ext cx="73152" cy="16002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Financial Analysis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2286000" cy="2743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840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scenario planning, trade data analysis, compliance reporting — all without analyst intervention.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3246120"/>
            <a:ext cx="2788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0" y="3246120"/>
            <a:ext cx="73152" cy="16002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8328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Research &amp; Dev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383280" y="3749040"/>
            <a:ext cx="2286000" cy="2743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83280" y="3840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experiments, collect results, form hypotheses, and iterate — weeks of work in hours.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3246120"/>
            <a:ext cx="2788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26480" y="3246120"/>
            <a:ext cx="73152" cy="16002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936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Supply Chain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09360" y="3749040"/>
            <a:ext cx="2286000" cy="2743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09360" y="3840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monitor inventory, predict shortages, auto-reorder, and flag anomalies in real-time.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Ecosystem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are built, and what tools you need.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 — 3-Tier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011680" cy="1115568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Autonomous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 Planning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886968"/>
            <a:ext cx="6263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sets its own sub-goals, plans multi-step workflows, and executes with constrained autonomy zones. Human approval only at critical checkpoints.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85953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2011680" cy="1115568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Workflow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4963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Patterns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130552"/>
            <a:ext cx="6263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patterns: Prompt Chaining → Routing → Parallelization → Evaluator-Optimizer → Orchestrator-Workers. Automates multi-step business processes.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236976"/>
            <a:ext cx="85953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236976"/>
            <a:ext cx="2011680" cy="111556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328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Foundation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739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 Infrastructure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3160" y="3374136"/>
            <a:ext cx="6263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orchestration, reasoning transparency, data governance, security guardrails, and audit logging. Must be built first.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507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Always start at Tier 1. Most failed agent projects skip trust &amp; governance and go straight to autonomy.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AI Ecosystem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8892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788920" cy="457200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86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Frameworks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606040" cy="1005840"/>
          </a:xfrm>
          <a:prstGeom prst="rect">
            <a:avLst/>
          </a:prstGeom>
          <a:solidFill>
            <a:srgbClr val="F5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807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popular. Build chains of LLM calls, connect tools and memory.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2606040" cy="1005840"/>
          </a:xfrm>
          <a:prstGeom prst="rect">
            <a:avLst/>
          </a:prstGeom>
          <a:solidFill>
            <a:srgbClr val="F5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51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collaboration. Assign roles to agents, run them as a team.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66744"/>
            <a:ext cx="2606040" cy="1005840"/>
          </a:xfrm>
          <a:prstGeom prst="rect">
            <a:avLst/>
          </a:prstGeom>
          <a:solidFill>
            <a:srgbClr val="F5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721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78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autonomous agent. Breaks goals into tasks and executes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749808"/>
            <a:ext cx="278892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27832" y="749808"/>
            <a:ext cx="2788920" cy="4572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9272" y="786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Vector DBs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9272" y="1325880"/>
            <a:ext cx="2606040" cy="1005840"/>
          </a:xfrm>
          <a:prstGeom prst="rect">
            <a:avLst/>
          </a:prstGeom>
          <a:solidFill>
            <a:srgbClr val="F5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10712" y="13807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(Meta)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10712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similarity search for long-term agent memory.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2496312"/>
            <a:ext cx="2606040" cy="1005840"/>
          </a:xfrm>
          <a:prstGeom prst="rect">
            <a:avLst/>
          </a:prstGeom>
          <a:solidFill>
            <a:srgbClr val="F5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10712" y="2551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10712" y="2907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Easy-to-use vector DB for storing conversation context.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9272" y="3666744"/>
            <a:ext cx="2606040" cy="1005840"/>
          </a:xfrm>
          <a:prstGeom prst="rect">
            <a:avLst/>
          </a:prstGeom>
          <a:solidFill>
            <a:srgbClr val="F5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10712" y="3721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10712" y="4078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vector DB, enterprise-grade scalability.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1344" y="749808"/>
            <a:ext cx="278892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81344" y="749808"/>
            <a:ext cx="2788920" cy="4572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72784" y="786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(LLMs)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72784" y="1325880"/>
            <a:ext cx="2606040" cy="1005840"/>
          </a:xfrm>
          <a:prstGeom prst="rect">
            <a:avLst/>
          </a:prstGeom>
          <a:solidFill>
            <a:srgbClr val="F5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64224" y="13807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OpenAI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64224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standard. Great for reasoning-heavy tasks.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2784" y="2496312"/>
            <a:ext cx="2606040" cy="1005840"/>
          </a:xfrm>
          <a:prstGeom prst="rect">
            <a:avLst/>
          </a:prstGeom>
          <a:solidFill>
            <a:srgbClr val="F5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64224" y="2551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/ Anthropic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64224" y="2907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long context &amp; safe deployments.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72784" y="3666744"/>
            <a:ext cx="2606040" cy="1005840"/>
          </a:xfrm>
          <a:prstGeom prst="rect">
            <a:avLst/>
          </a:prstGeom>
          <a:solidFill>
            <a:srgbClr val="F5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64224" y="3721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Google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64224" y="4078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multimodal support, deep Google integrations.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OpenAI — Building Agents in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74920" cy="347472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Tool-using Agent (Python)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074920" cy="242316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161288"/>
            <a:ext cx="48920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langchain.agents import create_react_agent, AgentExecutor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langchain_community.tools import DuckDuckGoSearchRun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 import hub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 = ChatOpenAI(model="gpt-4o", temperature=0)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[DuckDuckGoSearchRun()]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prompt= hub.pull("hwchase17/react")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create_react_agent(llm, tools, prompt)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 = AgentExecutor(agent=agent, tools=tools, verbose=True)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executor.invoke({"input":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"What is the latest news about agentic AI?"})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print(result["output"])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74320" y="3639312"/>
            <a:ext cx="5074920" cy="34747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6667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Function Calling (native tool use)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986784"/>
            <a:ext cx="5074920" cy="100584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4050792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[{"type":"function","function":{"name":"get_weather",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"parameters":{"type":"object",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"properties":{"city":{"type":"string"}}}}}]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model="gpt-4o", messages=[...], tools=tools)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532120" y="749808"/>
            <a:ext cx="33375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32120" y="749808"/>
            <a:ext cx="73152" cy="987552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0" y="813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11338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 loop: agent Thinks → picks a Tool → Observes result → repeats until goal met. Verbose=True lets you watch it think.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1837944"/>
            <a:ext cx="33375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32120" y="1837944"/>
            <a:ext cx="73152" cy="98755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1901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= Function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2219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Python function can be a tool. Give it a docstring and LangChain exposes it to the agent. Agent decides when to call it.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2926080"/>
            <a:ext cx="33375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32120" y="2926080"/>
            <a:ext cx="73152" cy="98755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0" y="2990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AgentExecutor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3101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loop, error catching, max iterations, and return. Set max_iterations=5 to prevent runaway agents.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4014216"/>
            <a:ext cx="33375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32120" y="4014216"/>
            <a:ext cx="73152" cy="987552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0" y="40782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43982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OpenAI-native tool use. More deterministic than ReAct. Best for structured output and when you control the full stack.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&amp; PromptFoo — Beyond Manual Prompting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402336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7863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DSPy — Program your LLM, don't prompt 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4251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solves: hand-crafted prompts are brittle — they break when you change the model or task. DSPy replaces prompt strings with typed signatures and compiles optimized prompts automatically.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4251960" cy="2395728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956816"/>
            <a:ext cx="40873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dspy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Configure the LM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 = dspy.LM("openai/gpt-4o")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dspy.configure(lm=lm)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Define a typed signature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Summarise(dspy.Signature):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"""Summarise a document into one sentence."""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document: str = dspy.InputField()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 str = dspy.OutputField()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Compile &amp; run — no prompt string!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summariser = dspy.Predict(Summarise)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summariser(document="Agentic AI is…")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print(result.summary)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74320" y="4343400"/>
            <a:ext cx="4251960" cy="54864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4389120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modules: Predict · ChainOfThought · ReAct · Refine · BestOfN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Optimisers: BootstrapFewShot · MIPRO · Copro — auto-tune prompts on your dataset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749808"/>
            <a:ext cx="4114800" cy="402336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7863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PromptFoo — Test &amp; eval your prompts like code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5214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11887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solves: how do you know if your prompt got better after a tweak? PromptFoo runs automated evals, A/B tests prompts across models, and catches regressions before production.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901952"/>
            <a:ext cx="4114800" cy="2395728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82896" y="1956816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promptfooconfig.yaml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"Summarise this article: {{article}}"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"TL;DR in 2 sentences: {{article}}"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openai:gpt-4o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ollama:llama3        # compare locally!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vars: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article: "Agentic AI is growing fast…"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type: contains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value: "agent"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type: llm-rubric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value: "Is the summary accurate?"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Run: npx promptfoo eval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4343400"/>
            <a:ext cx="4114800" cy="54864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82896" y="4389120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promptfoo eval → opens browser dashboard with pass/fail per 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supports: red-teaming, safety evals, cost comparisons across providers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Agents vs. Humans vs. Simple 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20440" y="795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AI/Prompt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85232" y="795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95160" y="795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birthday email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29844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Simple prompt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85232" y="129844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Overkill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1298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If very personal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911096"/>
            <a:ext cx="8595360" cy="530352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91109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competitors &amp; write 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191109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Single pass only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85232" y="191109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Multi-step, uses search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19110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If insight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5237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refund (standard rules)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252374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memory/tools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85232" y="252374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 order, refund, confirm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252374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Exceptions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136392"/>
            <a:ext cx="8595360" cy="530352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1363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strategic recommendation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313639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85232" y="313639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Can assist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3136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Judgment needed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10,000 transactions for fraud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37490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85232" y="37490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Continuous, scalable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95160" y="3749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feasible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361688"/>
            <a:ext cx="8595360" cy="530352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43616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new employee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43616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85232" y="43616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Forms, access, training links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95160" y="43616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Culture &amp; relationship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agent loop in action: The Pizza-Ordering Agent.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Live Demo: The Pizza-Ordering Agent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real agent: perceive the order → reason about constraints → use tools → ask for approval → confirm.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75488" cy="658368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  Capture 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2704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'Order a paneer pizza under ₹300 for delivery by 7pm.'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extracts: item, budget constraint, time constraint, delivery preference.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475488" cy="71323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95681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Define &amp; Call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295144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menu_lookup('paneer pizza') → [results]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pricing_tool(item_id) → ₹249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store_hours_tool() → 'Closes 9pm. Delivery 45 min.'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24912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724912"/>
            <a:ext cx="475488" cy="65836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72491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Plan &amp; Validate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063240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menu lookup ✓ → price check ✓ → delivery time check ✓ → build order summary → request approval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493008"/>
            <a:ext cx="475488" cy="658368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4930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3547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Human Approval Checkpoint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831336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presents: 'Paneer pizza ₹249, delivery by 6:45pm. Confirm?' → User: Yes → Agent calls checkout_tool()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261104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261104"/>
            <a:ext cx="475488" cy="658368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26110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Confirm &amp; Summarize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599432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#12847 placed. Estimated delivery: 6:42pm. Total: ₹249 + ₹30 delivery. 🎉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what you learned. Design, trace, and prompt agents.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Exercise 1  ·  12 minutes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Agent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868680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Your Task: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workflow from your life or work and design an AI agent for it on paper (or in a doc).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724912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697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real workflow: job application tracker, meeting scheduler, daily news summariser, expense reporter, etc.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1729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What is the agent's GOAL? What information does it need to PERCEIVE?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75888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64845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3–5 TOOLS the agent would need (e.g., email API, calendar API, web search, database)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151376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41239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step where a HUMAN must approve before the agent proceeds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626864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626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5994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design with a partner — can they understand what the agent does from your spec?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E0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You don't need to code anything. Thinking through the design is the most valuable step.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Exercise 2  ·  12 minutes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Agent Loop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868680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Your Task: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this scenario: 'Book me a meeting with a client next week around their timezone.' Trace what an agent would do.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724912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697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PERCEIVE: What information does the agent need to gather first? (Client timezone? Your calendar? Their availability?)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1729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REASON: What decisions must the agent make? What constraints apply?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75888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64845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ACT: What tools does it call? In what order? What are the outputs?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151376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41239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CHECKPOINT: What should the agent show you before sending the calendar invite?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626864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626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5994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trace as 5–8 numbered steps. Compare with your partner's trace.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E0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There's no single right answer — different agent designs make different trade-offs.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Exercise 3  ·  12 minutes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 Agentic System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868680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Your Task: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or Claude to simulate an agent by using a system prompt that gives it tools and a goal.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724912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697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ChatGPT (GPT-4) or Claude. Paste this system prompt: 'You are a research agent. You have access to web search and note-taking. Your goal is to research [YOUR TOPIC] and produce a structured briefing with: summary, 3 key facts, 2 open questions, and suggested next steps.'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1729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your topic (e.g., 'What is the current state of AI regulation in India?')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75888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64845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Does it plan before answering? Does it ask clarifying questions?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151376"/>
            <a:ext cx="320040" cy="32004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41239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add a constraint: 'You must ask me to confirm before adding anything to the briefing' — how does behavior change?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E0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This simulates how real agentic systems use system prompts to define agent behavior and tool permissions.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build, and reflect. Takes 2–3 hours.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Homework — Session 2: Agentic AI  (2–3 hours)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explore, and build. Bring your outputs to the next session for review.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8595360" cy="749808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~45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LangChain Agent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2984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LangChain ReAct quickstart. Add DuckDuckGo search as a tool. Give it a real task and observe its reasoning via verbose=True. Screenshot the chain.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8595360" cy="749808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~30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DSPy Signatures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1488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dspy-ai. Rewrite one prompt you use regularly as a typed Signature + Predict module. Compare output quality vs your hand-written prompt string.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07792"/>
            <a:ext cx="8595360" cy="749808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~35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PromptFoo Evals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9992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promptfoo. A/B test 2 prompt versions across GPT-4o and Ollama (Llama3). Run npx promptfoo eval and screenshot the results dashboard.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58184"/>
            <a:ext cx="8595360" cy="749808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~20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325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Spec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38496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workflow. Write a 1-page spec: goal, tools needed, memory type, human checkpoint locations. Share in the group for peer review.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Deliverable: Share your Agent Design Spec + LangChain screenshot in the group by next session.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Session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777240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777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proactive — it pursues goals, not just responds to prompts.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481328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48132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loop: Perceive → Reason → Act → Learn. Every agent follows this pattern.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2311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🧰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2185416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218541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agents powerful — search, code exec, APIs, email, databases.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29352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2889504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288950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foundation first (trust, governance, logging) before adding autonomy.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3639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4400" y="3593592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359359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is not optional — always have approval checkpoints for irreversible actions.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343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4400" y="4297680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" y="42976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small: pick one high-friction workflow, build a focused pilot, prove ROI, then scale.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Your First Agent —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57200" cy="1298448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850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25272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workflow are you automating? What's the goal? What are the boundaries (what should the agent NOT do)?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77724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27448" y="777240"/>
            <a:ext cx="457200" cy="1298448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27448" y="777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744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94376" y="850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LLM + Framework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94376" y="125272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GPT-4o + direct API. Moderate: LangChain. Multi-agent: CrewAI. Match complexity to need.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457200" cy="1298448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212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2–3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268833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external capabilities does your agent need? Search, database query, email, calendar? Define each as a function.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27448" y="2212848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27448" y="2212848"/>
            <a:ext cx="457200" cy="1298448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27448" y="2212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2744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3–5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94376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Memory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94376" y="268833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simple: in-context memory (conversation history). Add vector DB later for long-term recall across sessions.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648456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648456"/>
            <a:ext cx="457200" cy="1298448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6484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7432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5–7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1248" y="3721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Guardrails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" y="412394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human-in-the-loop checkpoints for irreversible actions. Build audit logging from day one.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27448" y="3648456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27448" y="3648456"/>
            <a:ext cx="457200" cy="1298448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27448" y="36484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27448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94376" y="3721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Iterate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94376" y="412394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agent decisions, errors, and user feedback. Refine prompts, tools, and constraints based on real usage.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Complete — Agentic AI Foundations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578608"/>
            <a:ext cx="2743200" cy="45720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linkedin.com/in/pallavrustogi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Design your agent spec &amp; explore LangChain before next session!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2949</Words>
  <Application>Microsoft Macintosh PowerPoint</Application>
  <PresentationFormat>On-screen Show (16:9)</PresentationFormat>
  <Paragraphs>389</Paragraphs>
  <Slides>24</Slides>
  <Notes>24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2: Introduction to Agentic AI</dc:title>
  <dc:subject>PptxGenJS Presentation</dc:subject>
  <dc:creator>Pallav Rustogi</dc:creator>
  <cp:lastModifiedBy>pallav Rustogi</cp:lastModifiedBy>
  <cp:revision>2</cp:revision>
  <dcterms:created xsi:type="dcterms:W3CDTF">2026-04-22T19:07:32Z</dcterms:created>
  <dcterms:modified xsi:type="dcterms:W3CDTF">2026-04-25T04:11:04Z</dcterms:modified>
</cp:coreProperties>
</file>