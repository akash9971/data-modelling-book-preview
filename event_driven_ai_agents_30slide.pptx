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6400800" cy="64008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2286000"/>
            <a:ext cx="7315200" cy="731520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1371600"/>
            <a:ext cx="3657600" cy="3657600"/>
          </a:xfrm>
          <a:prstGeom prst="ellipse">
            <a:avLst/>
          </a:prstGeom>
          <a:solidFill>
            <a:srgbClr val="3730A3">
              <a:alpha val="35000"/>
            </a:srgbClr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0080"/>
            <a:ext cx="201168" cy="20116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640080"/>
            <a:ext cx="201168" cy="2011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6583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ENCYCLOPEDIA EDITION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to Event-Driven Design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Agents &amp; Multi-Agent Systems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09728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30-slide deep dive — architecture patterns, Kafka/Flink primitives, and production-grade use cases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Confluent's ebook by Sean Falconer (2025) — rebuilt as a beginner-friendly reference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Parts, Thirty Slides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751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128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→ Generative → Agentic. Why each wave emerged and what it couldn't solve.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 3 — 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640080" cy="6400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437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815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components every agent needs: persona, perception, reasoning, memory, and more.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 10 — 13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124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Event-Driven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950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microservices lesson. Request/response bottlenecks. Kafka topics, partitions, consumer groups.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 14 — 18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5262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5811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Design Patterns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8188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Orchestrator-Worker, Hierarchical, Blackboard, Market-Based — traditional vs. event-driven.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 19 — 23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394960"/>
            <a:ext cx="640080" cy="64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4498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56875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Stream/Connect/Process/Govern. Four production use cases from SDR to fraud detection.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976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 24 — 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AI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1371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waves. Each solved something. Each broke something else.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EVOLUTION OF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Waves of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3493008"/>
            <a:ext cx="329184" cy="32918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~2010s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150876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8720" y="1508760"/>
            <a:ext cx="73152" cy="1920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331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ML models trained for one task. Loan approval. Churn prediction. Domain-specific, rigid.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49300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 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50876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508760"/>
            <a:ext cx="73152" cy="1920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40680" y="2331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(LLMs) trained on vast, diverse text. Can write, summarize, translate — but frozen in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0" y="3493008"/>
            <a:ext cx="329184" cy="3291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 +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35440" y="150876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35440" y="1508760"/>
            <a:ext cx="73152" cy="1920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6404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64040" y="2331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reason, plan, act, and collaborate. LLMs drive decisions dynamically instead of following scripts.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4297680"/>
            <a:ext cx="103327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4297680"/>
            <a:ext cx="73152" cy="19659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4709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pattern-recognizers to content-creators to autonomous actors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88720" y="5212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 generalize.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 access live context or take actions.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 both — but only if the surrounding infrastructure lets agents consume fresh data, use tools, and collaborate. That missing piece is the event-driven data platform, and it's what this deck is about.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EVOLUTION OF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— The Narrow Specialist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ML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⌒  batch process  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(specific, once)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27889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17520" y="23774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27889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23774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377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(bespoke)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42062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206240"/>
            <a:ext cx="0" cy="-9601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97280" y="4023360"/>
            <a:ext cx="2103120" cy="91440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97280" y="4023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app-specific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4023360"/>
            <a:ext cx="1828800" cy="-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229600" y="1645920"/>
            <a:ext cx="34747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645920"/>
            <a:ext cx="73152" cy="4572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TRAITS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58200" y="2103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58200" y="2304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task, one domain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2743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58200" y="2944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scoring, churn prediction, spam filters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33832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58200" y="3584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features + bespoke 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4023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58200" y="4224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days to months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4663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58200" y="48646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across domains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53035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58200" y="5504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Expertise-heavy; rebuild to repurpose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303520"/>
            <a:ext cx="7132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5303520"/>
            <a:ext cx="73152" cy="10972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440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LIMITATION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" y="5715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problem means rebuilding from scratch. Domain-specificity is baked into the training data — you can't transfer a fraud model to recommend insurance.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EVOLUTION OF 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— The Reusable Generalist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generative AI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(general, once)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237744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20116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237744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94960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(reusable)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74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(specific, continuous)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38404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17520" y="347472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3474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34747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474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3840480"/>
            <a:ext cx="-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9080" y="3474720"/>
            <a:ext cx="2331720" cy="-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17520" y="4572000"/>
            <a:ext cx="2103120" cy="7315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017520" y="4572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app-specific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9080" y="4572000"/>
            <a:ext cx="0" cy="-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229600" y="1645920"/>
            <a:ext cx="34747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1645920"/>
            <a:ext cx="73152" cy="4572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58200" y="2103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58200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model on vast, diverse 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58200" y="2743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5820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countless applications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58200" y="33832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58200" y="3584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prompts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4023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5820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engineering, not retraining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58200" y="4800600"/>
            <a:ext cx="3017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4892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LIMITED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58200" y="5120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in time · no domain knowledge · fine-tuning is expensive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440680"/>
            <a:ext cx="7132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544068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5595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PATTERN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" y="5806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model serves every app — but every app still needs to assemble the right prompt from its own data.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EVOLUTION OF AI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raw LLM can't answer personal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user asks for a personalized insurance recommendation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4864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73152" cy="3840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LLM ALONE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6060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"Recommend 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policy 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my health history…"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30175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86200" y="27432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3337560"/>
            <a:ext cx="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00400" y="41148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411480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are some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factors to consider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choosing a policy…"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Generic. Not actionable. Not about you.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2057400"/>
            <a:ext cx="51206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2057400"/>
            <a:ext cx="73152" cy="384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WHAT'S MISSING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26700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560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7980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health history, pre-existing conditions, dependents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32918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1821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context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34198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savings goals, risk tolerance, budget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391363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8039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4041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State/country regulations, regional coverage differences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453542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44256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4663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policies, pricing, recent product launches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51572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50474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history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5285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quotes, prior conversations, claimed events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6035040"/>
            <a:ext cx="10972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6035040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6080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isn't wrong — it's context-blind. Solving this is what gave rise to Compound AI and RAG (next slide).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EVOLUTION OF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AI &amp; Retrieval-Augmented Generation (RAG)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7724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73152" cy="3108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RAG ARCHITECTURE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315468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34290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2971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4290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315468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31546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34290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86600" y="315468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154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4114800"/>
            <a:ext cx="155448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4114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Vector 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4114800"/>
            <a:ext cx="0" cy="-2286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886200" y="3886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context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0" y="1783080"/>
            <a:ext cx="73152" cy="3108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154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WORKS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15400" y="23317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1540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facts from a vector database (semantic search)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15400" y="31089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them to the prompt as context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15400" y="38862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1540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now answers with specific, grounded information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5120640"/>
            <a:ext cx="10972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5120640"/>
            <a:ext cx="73152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230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WHERE RAG STILL FALLS SHORT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5504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workflows.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680" y="58338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execution path must be pre-defined.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works brilliantly for "retrieve X, stuff into prompt, answer" — but if the task needs the system to decide what to retrieve, which tools to use, or how to decompose a complex problem, a rigid pipeline can't express it. You'd need to enumerate every possible branch upfront. Agents solve this by letting the LLM pick the path at runtime.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EVOLUTION OF 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Control Logic Is Inverted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 SPECTRUM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03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73152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dictates every step. Predictable, testable — but rigid. Every branch pre-written.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303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19456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flow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drives decisions at runtime. Flexible, adaptive — chooses tools, plans steps, handles novelty.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Less autonomy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tradeoff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autonomy 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— perceive, reason, plan, act, learn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846320"/>
            <a:ext cx="1645920" cy="10972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46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26080" y="4846320"/>
            <a:ext cx="1645920" cy="10972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4846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4846320"/>
            <a:ext cx="1645920" cy="10972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4846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0" y="4846320"/>
            <a:ext cx="1645920" cy="10972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4846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235440" y="4846320"/>
            <a:ext cx="1645920" cy="10972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4846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514600" y="53949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17720" y="53949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20840" y="53949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823960" y="53949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26880" y="598932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45920" y="6217920"/>
            <a:ext cx="76809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0" y="598932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645920" y="6217920"/>
            <a:ext cx="0" cy="-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EVOLUTION OF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EC4899">
              <a:alpha val="22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AI Agent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1371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components. Together they mirror human problem-solving inside a digital ecosystem.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ANATOMY OF AN AGENT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agent senses, thinks, and acts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0" y="228600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0" y="265176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2651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301752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338328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383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37490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411480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4114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448056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484632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4846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525780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8120" y="37033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390448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818120" y="40690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Shared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98080" y="4261104"/>
            <a:ext cx="320040" cy="5486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4008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14884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2148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256032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2560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297180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2971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338328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sensor feeds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79476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3794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events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2926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54680" y="3383280"/>
            <a:ext cx="1554480" cy="-36576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818388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83880" y="214884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8388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966960" y="214884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6696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83880" y="265176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8388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966960" y="265176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6696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CDP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83880" y="31546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8388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966960" y="31546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6696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APIs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80960" y="2926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actions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915400" y="4663440"/>
            <a:ext cx="-749808" cy="-128016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senses its environment, reasons with an LLM, recalls memory, plans, acts on external systems, and coordinates with peers via shared memory.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ANATOMY OF AN AGENT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BREAKDOWN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Components of an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5429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FUNCTION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2084832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prompt. Defines expertise and tone — e.g. "You are a customer support rep for a bank."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68698" y="1645920"/>
            <a:ext cx="345429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8698" y="164592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7298" y="187452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729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37378" y="187452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7378" y="2084832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7298" y="251460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from the world — APIs, sensors, user messages, event streams. The agent's senses.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7317" y="1645920"/>
            <a:ext cx="345429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7317" y="1645920"/>
            <a:ext cx="73152" cy="1508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5917" y="187452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5917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5997" y="187452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5997" y="2084832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5917" y="251460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 LLM. Analyzes data, derives insight, decides what to do next.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337560"/>
            <a:ext cx="345429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33756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356616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+ LONG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08760" y="3776472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20624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the current conversation. Long-term: vector DB with embeddings for semantic recall.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68698" y="3337560"/>
            <a:ext cx="345429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68698" y="3337560"/>
            <a:ext cx="73152" cy="1508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97298" y="356616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729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37378" y="356616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37378" y="3776472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97298" y="420624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big goals into ordered sub-steps. Prioritizes. Handles dependencies and branching logic.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97317" y="3337560"/>
            <a:ext cx="345429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97317" y="3337560"/>
            <a:ext cx="73152" cy="1508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5917" y="356616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5917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965997" y="356616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65997" y="3776472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25917" y="420624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messages, calls APIs, writes DB rows, triggers other agents. Execution handlers validate outcomes.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5029200"/>
            <a:ext cx="345429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" y="502920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508760" y="525780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508760" y="5468112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8680" y="589788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via prompt updates, RLHF, or context refinement. Improves without fine-tuning in most cases.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368698" y="5029200"/>
            <a:ext cx="345429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368698" y="502920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97298" y="52578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97298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237378" y="525780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237378" y="5468112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597298" y="589788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other agents. Shares state, divides work, joins consumer groups.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097317" y="5029200"/>
            <a:ext cx="345429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097317" y="502920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25917" y="52578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25917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🧰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965997" y="525780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/ APIS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965997" y="5468112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Interface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25917" y="589788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handlers that let the agent call external capabilities — search, calculators, enterprise APIs.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ANATOMY OF AN AGENT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Short-Term vs. Long-Term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4572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context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971800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718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What's my current auto policy cost?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37360" y="3447288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818CF8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4472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Your premium is $142/month.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3922776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22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Can I lower it?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4398264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818CF8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3982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Here are 3 options based on your driving history…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5257800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1937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buffer during a session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5513832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4498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when the conversation ends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769864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7058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fast to access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6025896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961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current reasoning chain + tool results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691640"/>
            <a:ext cx="53035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691640"/>
            <a:ext cx="73152" cy="4572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446520" y="283464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3797" y="3030322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6677" y="297545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00062" y="3099816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2942" y="30449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79869" y="3047695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2749" y="2992831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69634" y="337779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2514" y="332293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65899" y="3412541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48779" y="3357677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570878" y="37947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53758" y="373989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34226" y="386425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17106" y="380939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130491" y="3760013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3371" y="3705149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29246" y="4107485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12126" y="4052621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4652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clusters in embedding space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92240" y="52578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51937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across sessions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92240" y="55138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54498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 — search by meaning, not keywords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92240" y="576986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0" y="57058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Pinecone, MongoDB, Elasticsearch, Weaviate, pgvector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92240" y="602589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0" y="5961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RAG — retrieve context before prompting LLM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ANATOMY OF AN AGENT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0"/>
            <a:ext cx="6400800" cy="64008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8288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Event-Driven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for Agents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13716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microservices playbook, applied to agents. Asynchronous, decoupled, real-time.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WHY EVENT-DRIVEN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MICROSERVICES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tight coupling to event-driven decoupling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73152" cy="41148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TIGHTLY-COUPLED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calls every other directly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3017520"/>
            <a:ext cx="1645920" cy="45720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3017520"/>
            <a:ext cx="1188720" cy="210312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17520"/>
            <a:ext cx="-640080" cy="210312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3017520"/>
            <a:ext cx="-1188720" cy="45720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3474720"/>
            <a:ext cx="-457200" cy="164592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3474720"/>
            <a:ext cx="-2286000" cy="164592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3474720"/>
            <a:ext cx="-283464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5120640"/>
            <a:ext cx="-182880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5120640"/>
            <a:ext cx="-2377440" cy="-164592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5120640"/>
            <a:ext cx="-548640" cy="-164592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74320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320040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48463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846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48463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4846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320040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5394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connections · cascading failures · hard to scale · one change breaks many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1737360"/>
            <a:ext cx="5303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737360"/>
            <a:ext cx="73152" cy="4114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EVENT-DRIVEN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publish &amp; subscribe to a broker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321040" y="365760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3657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26974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697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43800" y="2948940"/>
            <a:ext cx="777240" cy="11201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92240" y="457200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43800" y="4823460"/>
            <a:ext cx="777240" cy="-75438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332720" y="260604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32720" y="2606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509760" y="4069080"/>
            <a:ext cx="822960" cy="-121158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332720" y="38404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32720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509760" y="4069080"/>
            <a:ext cx="822960" cy="228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332720" y="502920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32720" y="5029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509760" y="4069080"/>
            <a:ext cx="822960" cy="121158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6492240" y="2468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332720" y="2468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46520" y="5440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 · loose coupling · replayable · easy to add consumers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0080" y="5989320"/>
            <a:ext cx="73152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" y="60624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transition that transformed microservices now transforms agents. Agents are just stateful microservices.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WHY EVENT-DRIVEN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 — How It Actually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205740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0574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205740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0574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205740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0574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20140" y="2606040"/>
            <a:ext cx="1714500" cy="68580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17420" y="2606040"/>
            <a:ext cx="617220" cy="68580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14700" y="2606040"/>
            <a:ext cx="-480060" cy="68580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11980" y="2606040"/>
            <a:ext cx="-1577340" cy="68580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2743200"/>
            <a:ext cx="6492240" cy="2286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8346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BROKER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3246120"/>
            <a:ext cx="1920240" cy="16002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01752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orders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356616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61188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9480" y="361188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18560" y="361188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361188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36720" y="361188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54680" y="397764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2336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9480" y="402336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18560" y="402336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77640" y="402336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36720" y="402336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4023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154680" y="438912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443484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59480" y="443484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18560" y="443484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443484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36720" y="4434840"/>
            <a:ext cx="222069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029200" y="3246120"/>
            <a:ext cx="1920240" cy="16002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02920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payments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66360" y="356616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361188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71160" y="361188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30240" y="361188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9320" y="361188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48400" y="361188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39128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166360" y="397764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12080" y="402336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71160" y="402336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30240" y="402336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89320" y="402336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48400" y="402336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39128" y="4023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166360" y="438912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443484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71160" y="443484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30240" y="443484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89320" y="443484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48400" y="4434840"/>
            <a:ext cx="222069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39128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040880" y="3246120"/>
            <a:ext cx="1920240" cy="16002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704088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inventory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178040" y="356616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23760" y="361188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82840" y="361188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41920" y="361188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01000" y="361188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60080" y="361188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50808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178040" y="397764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223760" y="402336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82840" y="402336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41920" y="402336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01000" y="402336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60080" y="402336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750808" y="4023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178040" y="438912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23760" y="443484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82840" y="443484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41920" y="443484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01000" y="443484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260080" y="4434840"/>
            <a:ext cx="222069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750808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4008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(AGENTS)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40080" y="58064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0080" y="5806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Agent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600200" y="5806440"/>
            <a:ext cx="4434840" cy="-77724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2834640" y="58064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834640" y="5806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Agent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794760" y="5806440"/>
            <a:ext cx="2240280" cy="-77724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5029200" y="58064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29200" y="5806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Agent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989320" y="5806440"/>
            <a:ext cx="45720" cy="-77724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7223760" y="58064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23760" y="5806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8183880" y="5806440"/>
            <a:ext cx="-2148840" cy="-77724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9418320" y="58064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418320" y="5806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0378440" y="5806440"/>
            <a:ext cx="-4343400" cy="-77724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104" name="Text 102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WHY EVENT-DRIVEN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Essentials — Topics, Partitions, Consumer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91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stream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channel events flow through. Producers publish to topics; consumers subscribe. Each event is an immutable, timestamped record.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customer.signup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3291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691640"/>
            <a:ext cx="73152" cy="21945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shard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514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split across partitions for parallelism. Events with the same key land in the same partition — guaranteeing order per key, not globally.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520440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customer_id → partition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03920" y="1691640"/>
            <a:ext cx="3291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03920" y="169164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3252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workers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32520" y="2514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consumer instances form a group. Kafka rebalances partitions across them. One dies, another picks up its partitions automatically.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32520" y="3520440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group: scoring-agents (3 members)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069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topic: scoring.input  |  3 partitions  |  3 consumer-group members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0" y="443484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194560" y="4572000"/>
            <a:ext cx="42062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4636008"/>
            <a:ext cx="292608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636008"/>
            <a:ext cx="292608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4636008"/>
            <a:ext cx="292608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4636008"/>
            <a:ext cx="292608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4636008"/>
            <a:ext cx="292608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636008"/>
            <a:ext cx="292608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4636008"/>
            <a:ext cx="292608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0" y="4636008"/>
            <a:ext cx="292608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5074920"/>
            <a:ext cx="42062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40280" y="5166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0" y="5138928"/>
            <a:ext cx="29260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08960" y="5138928"/>
            <a:ext cx="29260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0" y="5138928"/>
            <a:ext cx="29260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5138928"/>
            <a:ext cx="29260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06240" y="5138928"/>
            <a:ext cx="29260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0" y="5138928"/>
            <a:ext cx="29260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37760" y="5138928"/>
            <a:ext cx="29260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0" y="5138928"/>
            <a:ext cx="29260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94560" y="5577840"/>
            <a:ext cx="42062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40280" y="56692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0" y="5641848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08960" y="5641848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0" y="5641848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0480" y="5641848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06240" y="5641848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0" y="5641848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5641848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03520" y="5641848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2400" y="457200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0" y="4572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Agent 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0" y="4764024"/>
            <a:ext cx="137160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772400" y="507492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0" y="5074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Agent 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0" y="5266944"/>
            <a:ext cx="137160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772400" y="557784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0" y="5577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Agent 3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0" y="5769864"/>
            <a:ext cx="1371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owns one partition. Add a 4th worker → it sits idle. Kill worker 2 → Kafka reassigns its partition to another.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WHY EVENT-DRIVEN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Wins When Agents Go Event-Driven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73152" cy="1920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Processing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2468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react to events as they arrive. No blocking API calls, no timeouts. Events pile up in partitions; workers drain them at their own pace.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03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737360"/>
            <a:ext cx="73152" cy="1920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64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Scalability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06640" y="2468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agents without touching existing code. New consumer joins the group; Kafka rebalances partitions automatically. Remove one → the others absorb the load.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303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31920"/>
            <a:ext cx="73152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20624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828800" y="4663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 through topics, not direct addresses. Publisher doesn't know or care who consumes. Swap implementations, add new consumers, change languages — all without coordination.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931920"/>
            <a:ext cx="5303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393192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420624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0664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Responsiveness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06640" y="4663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use the freshest data. No more batch windows, no more yesterday's snapshot. Fraud detected in 50ms, not after the end-of-day ETL.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6172200"/>
            <a:ext cx="7315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62362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same wins microservices got a decade ago. Applied to agents, they're the difference between a demo and a production system.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WHY EVENT-DRIVEN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743200"/>
            <a:ext cx="6400800" cy="6400800"/>
          </a:xfrm>
          <a:prstGeom prst="ellipse">
            <a:avLst/>
          </a:prstGeom>
          <a:solidFill>
            <a:srgbClr val="EC4899">
              <a:alpha val="22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1371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patterns. Each shown traditionally, then transformed into an event-driven version.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MULTI-AGENT PATTERNS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— One Manager, Many Workers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4846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coupling, manual failover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2606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9776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977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154680"/>
            <a:ext cx="-173736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39776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977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3154680"/>
            <a:ext cx="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39776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977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154680"/>
            <a:ext cx="173736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11680" y="5257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5257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Response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00200" y="4526280"/>
            <a:ext cx="173736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37560" y="4526280"/>
            <a:ext cx="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74920" y="4526280"/>
            <a:ext cx="-173736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68680" y="5943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Worker 2 dies, orchestrator must detect it and manually reassign the task.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691640"/>
            <a:ext cx="53949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691640"/>
            <a:ext cx="73152" cy="4846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partitions + consumer group = auto-balance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35204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520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2606040"/>
            <a:ext cx="1463040" cy="228600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138160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75320" y="2926080"/>
            <a:ext cx="11887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2999232"/>
            <a:ext cx="201168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77072" y="2999232"/>
            <a:ext cx="201168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33104" y="2999232"/>
            <a:ext cx="201168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89136" y="2999232"/>
            <a:ext cx="201168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0" y="3547872"/>
            <a:ext cx="11887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3621024"/>
            <a:ext cx="201168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77072" y="3621024"/>
            <a:ext cx="201168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33104" y="3621024"/>
            <a:ext cx="201168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89136" y="3621024"/>
            <a:ext cx="201168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4169664"/>
            <a:ext cx="11887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0" y="4242816"/>
            <a:ext cx="20116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77072" y="4242816"/>
            <a:ext cx="20116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33104" y="4242816"/>
            <a:ext cx="20116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89136" y="4242816"/>
            <a:ext cx="20116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0" y="37947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875520" y="288036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75520" y="2880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601200" y="3131820"/>
            <a:ext cx="27432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875520" y="3502152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75520" y="35021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601200" y="3753612"/>
            <a:ext cx="2743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875520" y="41148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4114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601200" y="4366260"/>
            <a:ext cx="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680960" y="5349240"/>
            <a:ext cx="30175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7772400" y="5394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task.out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772400" y="5586984"/>
            <a:ext cx="164592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982712" y="5586984"/>
            <a:ext cx="164592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93024" y="5586984"/>
            <a:ext cx="16459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03336" y="5586984"/>
            <a:ext cx="164592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13648" y="5586984"/>
            <a:ext cx="164592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5586984"/>
            <a:ext cx="16459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34272" y="5586984"/>
            <a:ext cx="164592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44584" y="5586984"/>
            <a:ext cx="164592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54896" y="5586984"/>
            <a:ext cx="16459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65208" y="5586984"/>
            <a:ext cx="164592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875520" y="5586984"/>
            <a:ext cx="164592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85832" y="5586984"/>
            <a:ext cx="16459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24160" y="3383280"/>
            <a:ext cx="-1920240" cy="196596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10424160" y="4005072"/>
            <a:ext cx="-1280160" cy="1344168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0424160" y="4617720"/>
            <a:ext cx="-640080" cy="73152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6446520" y="5943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dies → Kafka rebalances its partition to another. Orchestrator never notices.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MULTI-AGENT PATTERNS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Agent — Layers of Delegation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4846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parent → child supervision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Agent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3977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977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108960"/>
            <a:ext cx="-1737360" cy="8686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3977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977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3108960"/>
            <a:ext cx="0" cy="8686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3977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977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108960"/>
            <a:ext cx="1737360" cy="8686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" y="516636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66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00200" y="4434840"/>
            <a:ext cx="-36576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20240" y="516636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5166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00200" y="4434840"/>
            <a:ext cx="77724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68680" y="5943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directly supervises the next. Tight coupling at every layer.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691640"/>
            <a:ext cx="53949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691640"/>
            <a:ext cx="73152" cy="4846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= its own orchestrator topic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92240" y="26974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46720" y="2560320"/>
            <a:ext cx="1371600" cy="77724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046720" y="2587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top-level.in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38160" y="2807208"/>
            <a:ext cx="1188720" cy="128016"/>
          </a:xfrm>
          <a:prstGeom prst="rect">
            <a:avLst/>
          </a:prstGeom>
          <a:solidFill>
            <a:srgbClr val="1E293B"/>
          </a:solidFill>
          <a:ln w="381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83880" y="2825496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85048" y="2825496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86216" y="2825496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87384" y="2825496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88552" y="2825496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2971800"/>
            <a:ext cx="1188720" cy="128016"/>
          </a:xfrm>
          <a:prstGeom prst="rect">
            <a:avLst/>
          </a:prstGeom>
          <a:solidFill>
            <a:srgbClr val="1E293B"/>
          </a:solidFill>
          <a:ln w="3810">
            <a:solidFill>
              <a:srgbClr val="EC48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83880" y="2990088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85048" y="2990088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86216" y="2990088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7384" y="2990088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88552" y="2990088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3136392"/>
            <a:ext cx="1188720" cy="128016"/>
          </a:xfrm>
          <a:prstGeom prst="rect">
            <a:avLst/>
          </a:prstGeom>
          <a:solidFill>
            <a:srgbClr val="1E293B"/>
          </a:solidFill>
          <a:ln w="3810">
            <a:solidFill>
              <a:srgbClr val="EC48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83880" y="3154680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85048" y="3154680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86216" y="3154680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87384" y="3154680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88552" y="3154680"/>
            <a:ext cx="146304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0" y="2926080"/>
            <a:ext cx="2743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692640" y="256032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92640" y="2560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418320" y="2766060"/>
            <a:ext cx="27432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692640" y="30632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92640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418320" y="3268980"/>
            <a:ext cx="27432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692640" y="356616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92640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418320" y="3771900"/>
            <a:ext cx="27432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589520" y="452628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589520" y="4544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mid-level.in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680960" y="4754880"/>
            <a:ext cx="164592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82128" y="4754880"/>
            <a:ext cx="164592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83296" y="4754880"/>
            <a:ext cx="164592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84464" y="4754880"/>
            <a:ext cx="164592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85632" y="4754880"/>
            <a:ext cx="164592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4754880"/>
            <a:ext cx="164592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287000" y="2971800"/>
            <a:ext cx="-2011680" cy="155448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9509760" y="443484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09760" y="4434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961120" y="4800600"/>
            <a:ext cx="548640" cy="-1371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9509760" y="50749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509760" y="5074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2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961120" y="4800600"/>
            <a:ext cx="548640" cy="50292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6446520" y="5943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non-leaf is the orchestrator for its subtree. Recurse all the way down.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MULTI-AGENT PATTERNS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— A Shared Knowledge 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4846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read/write the same DB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0280" y="2697480"/>
            <a:ext cx="21945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BLACKBOARD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6177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617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00200" y="3520440"/>
            <a:ext cx="1737360" cy="10972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46177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4617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3520440"/>
            <a:ext cx="0" cy="10972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46177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617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3520440"/>
            <a:ext cx="-1737360" cy="10972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6868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poll the board. Locks. Race conditions. Sync nightmares at scale.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53949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691640"/>
            <a:ext cx="73152" cy="4846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= a Kafka topic everyone subscribes to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2606040"/>
            <a:ext cx="1645920" cy="292608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49224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29400" y="2971800"/>
            <a:ext cx="59436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2971800"/>
            <a:ext cx="59436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3310128"/>
            <a:ext cx="5943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3310128"/>
            <a:ext cx="594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3648456"/>
            <a:ext cx="59436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3648456"/>
            <a:ext cx="59436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3986784"/>
            <a:ext cx="5943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60920" y="3986784"/>
            <a:ext cx="594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4325112"/>
            <a:ext cx="59436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4325112"/>
            <a:ext cx="59436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4663440"/>
            <a:ext cx="5943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60920" y="4663440"/>
            <a:ext cx="594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29400" y="5001768"/>
            <a:ext cx="59436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60920" y="5001768"/>
            <a:ext cx="59436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0" y="25603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38160" y="2834640"/>
            <a:ext cx="118872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326880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38160" y="4114800"/>
            <a:ext cx="1188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326880" y="51206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0" y="5120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138160" y="5394960"/>
            <a:ext cx="11887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644652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updates asynchronously. Subscribe only to what matters. No locks, no polling.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MULTI-AGENT PATTERNS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Market-Based — Agents Negotiate Through a Broker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4846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bidding, O(N²) connections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2606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406908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154680"/>
            <a:ext cx="-1600200" cy="9144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406908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3154680"/>
            <a:ext cx="45720" cy="9144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0560" y="406908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154680"/>
            <a:ext cx="1691640" cy="9144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737360" y="4343400"/>
            <a:ext cx="1097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4343400"/>
            <a:ext cx="1097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6868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solver must know every other. Adding an agent = updating all peers.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691640"/>
            <a:ext cx="53949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691640"/>
            <a:ext cx="73152" cy="4846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Bids, asks, transactions — three topics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92240" y="37947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794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Maker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26060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4F46E5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8046720" y="26243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38160" y="2843784"/>
            <a:ext cx="164592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2843784"/>
            <a:ext cx="164592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2843784"/>
            <a:ext cx="164592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41664" y="2843784"/>
            <a:ext cx="164592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42832" y="2843784"/>
            <a:ext cx="164592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0" y="2843784"/>
            <a:ext cx="164592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379476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8046720" y="38130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138160" y="4032504"/>
            <a:ext cx="1645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9328" y="4032504"/>
            <a:ext cx="1645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40496" y="4032504"/>
            <a:ext cx="1645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41664" y="4032504"/>
            <a:ext cx="1645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42832" y="4032504"/>
            <a:ext cx="1645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4032504"/>
            <a:ext cx="1645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4983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8046720" y="5001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138160" y="5221224"/>
            <a:ext cx="16459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39328" y="5221224"/>
            <a:ext cx="16459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0496" y="5221224"/>
            <a:ext cx="16459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41664" y="5221224"/>
            <a:ext cx="16459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42832" y="5221224"/>
            <a:ext cx="16459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00" y="5221224"/>
            <a:ext cx="16459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84080" y="2606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8408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784080" y="2880360"/>
            <a:ext cx="-27432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784080" y="37947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84080" y="3794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784080" y="4069080"/>
            <a:ext cx="-2743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784080" y="49834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84080" y="4983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784080" y="5257800"/>
            <a:ext cx="-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046720" y="2880360"/>
            <a:ext cx="-182880" cy="91440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046720" y="4069080"/>
            <a:ext cx="-182880" cy="-457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863840" y="4251960"/>
            <a:ext cx="182880" cy="10058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644652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complexity — doesn't matter if there are 3 solvers or 10,000.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MULTI-AGENT PATTERNS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914400"/>
            <a:ext cx="7315200" cy="7315200"/>
          </a:xfrm>
          <a:prstGeom prst="ellipse">
            <a:avLst/>
          </a:prstGeom>
          <a:solidFill>
            <a:srgbClr val="F43F5E">
              <a:alpha val="18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Architectures, Real Outcomes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371600" cy="0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use cases from SDR automation to financial risk. How the patterns look in production.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PRODUCTION SYSTEMS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NERVOUS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a Data Streaming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78892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events in real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73152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889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capture and share events with agents anywhere. Cloud-native Kafka engine handles the firehose — millions of events per second at millisecond latency.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4892040"/>
            <a:ext cx="2423160" cy="1143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9377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Apache Kafka · Kora engine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Pub/sub semantics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Replayable event log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1691640"/>
            <a:ext cx="278892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691640"/>
            <a:ext cx="73152" cy="44805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&amp; push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651760"/>
            <a:ext cx="73152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7889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pre-built connectors bring data from databases, SaaS apps, warehouses, S3. Agents no longer wire up custom integrations — connectors stream changes automatically.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4892040"/>
            <a:ext cx="2423160" cy="1143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49377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CDC connectors (Postgres, MongoDB)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SaaS connectors (Salesforce, Snowflake)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Sink to vector DBs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1691640"/>
            <a:ext cx="278892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691640"/>
            <a:ext cx="73152" cy="4480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data in motion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2651760"/>
            <a:ext cx="7315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7889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 transforms, joins, filters streams — or calls LLMs inline for embedding generation and inference. Agents receive fully contextualized events.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4892040"/>
            <a:ext cx="2423160" cy="1143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9377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Flink SQL / Table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Flink AI Model Inference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Stateful computations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281160" y="1691640"/>
            <a:ext cx="278892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8116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0976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trust &amp; lineage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509760" y="265176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27889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registry, field-level encryption, access control, data lineage tracking. Every event is auditable and compliant with regulations like GDPR and HIPAA.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09760" y="4892040"/>
            <a:ext cx="2423160" cy="1143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49377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Schema Registry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RBAC + field encryption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Retention policies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four pillars turn Kafka from a message bus into an AI-ready nervous system.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PRODUCTION SYSTEMS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· MARKETING &amp; SALES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Development Representative (SDR)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73152" cy="640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691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lead qualification. Every inbound form becomes an enriched, scored, personalized outreach within seconds — 24/7.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49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4005072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03120" y="37490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3703320"/>
            <a:ext cx="91440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703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4005072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0560" y="256032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480560" y="263347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2971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990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incoming.leads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201168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3200400"/>
            <a:ext cx="201168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75504" y="3200400"/>
            <a:ext cx="201168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3200400"/>
            <a:ext cx="201168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87568" y="3200400"/>
            <a:ext cx="201168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3931920"/>
            <a:ext cx="411480" cy="-7132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74920" y="3657600"/>
            <a:ext cx="54864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657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⚙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303520" y="3474720"/>
            <a:ext cx="0" cy="18288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17720" y="42519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270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agent.messages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63440" y="448056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9472" y="448056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75504" y="448056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31536" y="448056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87568" y="448056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0" y="4114800"/>
            <a:ext cx="0" cy="13716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00800" y="4389120"/>
            <a:ext cx="64008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389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⚙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035040" y="4526280"/>
            <a:ext cx="365760" cy="914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400800" y="301752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3474720"/>
            <a:ext cx="0" cy="914400"/>
          </a:xfrm>
          <a:prstGeom prst="line">
            <a:avLst/>
          </a:prstGeom>
          <a:noFill/>
          <a:ln w="12700">
            <a:solidFill>
              <a:srgbClr val="4F46E5"/>
            </a:solidFill>
            <a:prstDash val="dash"/>
            <a:headEnd type="triangl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406640" y="438912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agent.predictions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452360" y="4617720"/>
            <a:ext cx="2286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26680" y="4617720"/>
            <a:ext cx="2286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01000" y="4617720"/>
            <a:ext cx="2286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5320" y="4617720"/>
            <a:ext cx="2286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49640" y="4617720"/>
            <a:ext cx="2286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23960" y="4617720"/>
            <a:ext cx="2286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40880" y="4617720"/>
            <a:ext cx="3657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784080" y="2743200"/>
            <a:ext cx="2103120" cy="475488"/>
          </a:xfrm>
          <a:prstGeom prst="roundRect">
            <a:avLst>
              <a:gd name="adj" fmla="val 961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84080" y="2743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Ingestion Agent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235440" y="4617720"/>
            <a:ext cx="548640" cy="-1636776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784080" y="3337560"/>
            <a:ext cx="2103120" cy="475488"/>
          </a:xfrm>
          <a:prstGeom prst="roundRect">
            <a:avLst>
              <a:gd name="adj" fmla="val 961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84080" y="3337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Agent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235440" y="4617720"/>
            <a:ext cx="548640" cy="-1042416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784080" y="3931920"/>
            <a:ext cx="2103120" cy="475488"/>
          </a:xfrm>
          <a:prstGeom prst="roundRect">
            <a:avLst>
              <a:gd name="adj" fmla="val 961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84080" y="39319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Outreach Agent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235440" y="4617720"/>
            <a:ext cx="548640" cy="-448056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784080" y="4526280"/>
            <a:ext cx="2103120" cy="475488"/>
          </a:xfrm>
          <a:prstGeom prst="roundRect">
            <a:avLst>
              <a:gd name="adj" fmla="val 961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84080" y="45262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Campaign Agent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235440" y="4617720"/>
            <a:ext cx="548640" cy="146304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784080" y="5120640"/>
            <a:ext cx="2103120" cy="475488"/>
          </a:xfrm>
          <a:prstGeom prst="roundRect">
            <a:avLst>
              <a:gd name="adj" fmla="val 961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84080" y="5120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Agent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235440" y="4617720"/>
            <a:ext cx="548640" cy="74066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40080" y="6035040"/>
            <a:ext cx="10972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40080" y="6035040"/>
            <a:ext cx="73152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8680" y="6080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lead → enrichment → scoring → (outreach OR nurture) → email send. Each step is its own agent consuming from a topic and publishing back. Any failure replays from Kafka.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PRODUCTION SYSTEMS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· RESEARCH &amp; KNOWLEDGE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— Podcast Research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691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list of URLs → get an interview brief with synthesized context and the sharpest questions — in minutes, not hours.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3959352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11680" y="37033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3657600"/>
            <a:ext cx="91440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657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3959352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2514600"/>
            <a:ext cx="5029200" cy="3703320"/>
          </a:xfrm>
          <a:prstGeom prst="roundRect">
            <a:avLst>
              <a:gd name="adj" fmla="val 2469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89120" y="25877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26280" y="292608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944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research-requests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0" y="3163824"/>
            <a:ext cx="27432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01184" y="3163824"/>
            <a:ext cx="27432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3163824"/>
            <a:ext cx="27432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59552" y="3163824"/>
            <a:ext cx="27432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88736" y="3163824"/>
            <a:ext cx="27432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52044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387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full-text-sources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0" y="3758184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01184" y="3758184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0368" y="3758184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59552" y="3758184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88736" y="3758184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41148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text-embeddings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4352544"/>
            <a:ext cx="2743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4352544"/>
            <a:ext cx="2743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30368" y="4352544"/>
            <a:ext cx="2743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59552" y="4352544"/>
            <a:ext cx="2743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88736" y="4352544"/>
            <a:ext cx="2743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0" y="47091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7274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mined-questions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0" y="4946904"/>
            <a:ext cx="2743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1184" y="4946904"/>
            <a:ext cx="2743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30368" y="4946904"/>
            <a:ext cx="2743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59552" y="4946904"/>
            <a:ext cx="2743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88736" y="4946904"/>
            <a:ext cx="2743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26280" y="530352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5321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completed-reqs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572000" y="5541264"/>
            <a:ext cx="274320" cy="182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01184" y="5541264"/>
            <a:ext cx="274320" cy="182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30368" y="5541264"/>
            <a:ext cx="274320" cy="182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59552" y="5541264"/>
            <a:ext cx="274320" cy="182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88736" y="5541264"/>
            <a:ext cx="274320" cy="182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338328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6052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60520" y="397764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6052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60520" y="457200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6052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160520" y="516636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6052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692640" y="30632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264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URLs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Embeddings Agent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692640" y="50292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9264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Brief Agent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63640" y="3154680"/>
            <a:ext cx="3429000" cy="32004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263640" y="5532120"/>
            <a:ext cx="3429000" cy="-9144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692640" y="3474720"/>
            <a:ext cx="-3429000" cy="27432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9692640" y="5440680"/>
            <a:ext cx="-3429000" cy="9144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766560" y="576072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66560" y="5760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692640" y="5532120"/>
            <a:ext cx="-2011680" cy="4297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40080" y="6217920"/>
            <a:ext cx="73152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8680" y="6245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Stream URLs → chunk text → embed with Flink → land in vector DB.   2.  Extract questions from text.   3.  Call LLM with retrieved context → produce interview brief.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PRODUCTION SYSTEMS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· FINANCIAL SERVICES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— Multi-Agent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73152" cy="640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691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card swipe in &lt; 50ms. Specialist agents check velocity, geography, device, and behavioral patterns — in parallel, not in sequence.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Terminal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2926080"/>
            <a:ext cx="640080" cy="77724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329184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3520440"/>
            <a:ext cx="640080" cy="18288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388620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Network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4114800"/>
            <a:ext cx="640080" cy="-41148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4805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80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Checkout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4709160"/>
            <a:ext cx="640080" cy="-100584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34640" y="342900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6350">
            <a:solidFill>
              <a:srgbClr val="4F46E5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834640" y="3447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80360" y="3703320"/>
            <a:ext cx="164592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81528" y="3703320"/>
            <a:ext cx="164592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82696" y="3703320"/>
            <a:ext cx="164592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3864" y="3703320"/>
            <a:ext cx="164592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85032" y="3703320"/>
            <a:ext cx="164592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86200" y="3703320"/>
            <a:ext cx="164592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65760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69080" y="4142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enrich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06240" y="3794760"/>
            <a:ext cx="137160" cy="9144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92040" y="342900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6350">
            <a:solidFill>
              <a:srgbClr val="EC4899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892040" y="34472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txn.enriched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37760" y="3703320"/>
            <a:ext cx="18288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57216" y="3703320"/>
            <a:ext cx="18288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76672" y="3703320"/>
            <a:ext cx="18288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96128" y="3703320"/>
            <a:ext cx="18288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15584" y="3703320"/>
            <a:ext cx="18288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3703320"/>
            <a:ext cx="18288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886200"/>
            <a:ext cx="9144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492240" y="251460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Agent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2816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+ amount over windows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3794760"/>
            <a:ext cx="137160" cy="-97840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492240" y="320040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3227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Agent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3502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travel + geo-hops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55080" y="3794760"/>
            <a:ext cx="137160" cy="-29260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492240" y="388620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3913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Agent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92240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fingerprint anomalies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355080" y="3794760"/>
            <a:ext cx="137160" cy="39319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492240" y="457200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4599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Agent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92240" y="4873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spending patterns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355080" y="3794760"/>
            <a:ext cx="137160" cy="107899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778240" y="3154680"/>
            <a:ext cx="1463040" cy="164592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6350">
            <a:solidFill>
              <a:srgbClr val="10B981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8778240" y="3182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risk.scores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869680" y="3429000"/>
            <a:ext cx="3200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81160" y="3429000"/>
            <a:ext cx="3200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92640" y="3429000"/>
            <a:ext cx="32004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69680" y="3794760"/>
            <a:ext cx="32004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81160" y="3794760"/>
            <a:ext cx="3200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92640" y="3794760"/>
            <a:ext cx="3200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69680" y="4160520"/>
            <a:ext cx="32004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81160" y="4160520"/>
            <a:ext cx="32004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92640" y="4160520"/>
            <a:ext cx="3200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2807208"/>
            <a:ext cx="274320" cy="107899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503920" y="3493008"/>
            <a:ext cx="274320" cy="3931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503920" y="4178808"/>
            <a:ext cx="274320" cy="-292608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503920" y="4864608"/>
            <a:ext cx="274320" cy="-978408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10424160" y="333756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424160" y="3337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0241280" y="3703320"/>
            <a:ext cx="182880" cy="-4572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10424160" y="420624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424160" y="4206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1109960" y="3977640"/>
            <a:ext cx="0" cy="2286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10424160" y="47548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424160" y="4754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AUTH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1109960" y="3977640"/>
            <a:ext cx="0" cy="7772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10424160" y="530352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424160" y="5303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1109960" y="3977640"/>
            <a:ext cx="0" cy="132588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40080" y="5897880"/>
            <a:ext cx="73152" cy="640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68680" y="5943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6868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txn/sec · p99 &lt; 50ms · specialist agents scale independently · Blackboard + Orchestrator-Worker hybrid · replay-safe · models swap without downtime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PRODUCTION SYSTEMS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Event-Driven Agent Design — and How to Solve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972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40280"/>
            <a:ext cx="141732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40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2148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after failure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log replay · idempotent handlers · dead-letter queues for unrecoverable events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1097280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898648"/>
            <a:ext cx="1417320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98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807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sprawl with DBs, SaaS, vector stores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8072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pre-built source/sink connectors · agent frameworks (LangGraph, AutoGen, CrewAI) for tool calls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419856"/>
            <a:ext cx="10972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57016"/>
            <a:ext cx="14173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570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34655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 &amp; real-time enrichment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4655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SQL for joins &amp; filters · Flink AI Model Inference · embedding pipelines for live RAG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78224"/>
            <a:ext cx="1097280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215384"/>
            <a:ext cx="14173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153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412394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compliance, auditability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1239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 · field-level encryption · RBAC · lineage tracking · GDPR retention policies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736592"/>
            <a:ext cx="10972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873752"/>
            <a:ext cx="1417320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737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47823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availability &amp; regional latency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47823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clusters · cluster linking · local processing near the data source (shift-left)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394960"/>
            <a:ext cx="1097280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532120"/>
            <a:ext cx="141732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532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77440" y="5440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overhead of self-managed infra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Fully-managed cloud service · auto-scaling · SLA-backed uptime · no cluster management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" y="6126480"/>
            <a:ext cx="73152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61813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challenge has a well-understood pattern. The infrastructure is no longer the bottleneck — the question is whether you adopt it.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PRODUCTION SYSTEMS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1551615" y="3474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88775" y="347472"/>
            <a:ext cx="118872" cy="1188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6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743200"/>
            <a:ext cx="6400800" cy="640080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EVENT-DRIVEN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371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574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240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stateful microservices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26517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them like any distributed system — loose coupling wins.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0574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240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240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breaks at scale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06640" y="26517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 count grows, synchronous calls create O(N²) fragility.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03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3703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is the nervous system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41148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partitions, consumer groups — built for the exact shape of agent workloads.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5204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703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06640" y="3703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patterns cover most cases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41148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Orchestrator-Worker, Hierarchical, Blackboard, Market-Based. Master these.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166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45920" y="5166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+ Kafka = real-time RAG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retrieve, infer — all on streaming data, not yesterday's batch.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49834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5166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5166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non-negotiable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06640" y="55778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registry, lineage, encryption. Enterprise AI doesn't ship without 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6263640"/>
            <a:ext cx="10881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embrace event-driven agentic architectures won't just ship AI features — they'll define the next platform.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Event-Driven Design for AI Agents &amp; Multi-Agent Systems</dc:title>
  <dc:subject>PptxGenJS Presentation</dc:subject>
  <dc:creator>Claude</dc:creator>
  <cp:lastModifiedBy>Claude</cp:lastModifiedBy>
  <cp:revision>1</cp:revision>
  <dcterms:created xsi:type="dcterms:W3CDTF">2026-04-21T03:26:08Z</dcterms:created>
  <dcterms:modified xsi:type="dcterms:W3CDTF">2026-04-21T03:26:08Z</dcterms:modified>
</cp:coreProperties>
</file>